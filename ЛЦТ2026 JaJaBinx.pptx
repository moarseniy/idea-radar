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65" r:id="rId2"/>
    <p:sldId id="366" r:id="rId3"/>
    <p:sldId id="364" r:id="rId4"/>
    <p:sldId id="375" r:id="rId5"/>
    <p:sldId id="381" r:id="rId6"/>
    <p:sldId id="384" r:id="rId7"/>
    <p:sldId id="380" r:id="rId8"/>
    <p:sldId id="376" r:id="rId9"/>
    <p:sldId id="385" r:id="rId10"/>
    <p:sldId id="383" r:id="rId11"/>
    <p:sldId id="378" r:id="rId12"/>
    <p:sldId id="372" r:id="rId13"/>
    <p:sldId id="379" r:id="rId14"/>
    <p:sldId id="362" r:id="rId1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язательные слайды" id="{248E5CD8-1028-4246-90C7-3263F7F286D3}">
          <p14:sldIdLst>
            <p14:sldId id="365"/>
            <p14:sldId id="366"/>
            <p14:sldId id="364"/>
            <p14:sldId id="375"/>
            <p14:sldId id="381"/>
            <p14:sldId id="384"/>
            <p14:sldId id="380"/>
            <p14:sldId id="376"/>
            <p14:sldId id="385"/>
            <p14:sldId id="383"/>
            <p14:sldId id="378"/>
            <p14:sldId id="372"/>
            <p14:sldId id="379"/>
            <p14:sldId id="362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195"/>
    <a:srgbClr val="8226E3"/>
    <a:srgbClr val="753A93"/>
    <a:srgbClr val="D6FBE6"/>
    <a:srgbClr val="FFFFFF"/>
    <a:srgbClr val="DCCEE4"/>
    <a:srgbClr val="FFD6E3"/>
    <a:srgbClr val="976BAE"/>
    <a:srgbClr val="F92571"/>
    <a:srgbClr val="2D1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3" autoAdjust="0"/>
    <p:restoredTop sz="95204"/>
  </p:normalViewPr>
  <p:slideViewPr>
    <p:cSldViewPr snapToGrid="0" showGuides="1">
      <p:cViewPr>
        <p:scale>
          <a:sx n="70" d="100"/>
          <a:sy n="70" d="100"/>
        </p:scale>
        <p:origin x="1232" y="55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4" d="100"/>
        <a:sy n="114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8:47:14.970"/>
    </inkml:context>
    <inkml:brush xml:id="br0">
      <inkml:brushProperty name="width" value="0.35" units="cm"/>
      <inkml:brushProperty name="height" value="2.1" units="cm"/>
      <inkml:brushProperty name="color" value="#FEE009"/>
      <inkml:brushProperty name="inkEffects" value="pencil"/>
    </inkml:brush>
  </inkml:definitions>
  <inkml:trace contextRef="#ctx0" brushRef="#br0">12879 1849 16383,'-55'0'0,"1"0"0,-2 0 0,-1 1 0,-6 2 0,-2 3 0,-8 8 0,-1 4 0,-7 6 0,0 5 0,-5 4 0,1 3 0,-3 3 0,0 2 0,-1 1 0,0 2 0,2 2 0,-1 1 0,26-13 0,0 1 0,0-1 0,2-1 0,0 0 0,1-1 0,-27 14 0,1-1 0,1-2 0,1-1 0,7-5 0,2-2 0,2 0 0,1-2 0,5-4 0,1-1 0,3-3 0,-1-2 0,-2-1 0,-1-1 0,-2-1 0,-2-1 0,-4 0 0,0-3 0,0-2 0,-1-3 0,1-2 0,1-3 0,1-3 0,1-2 0,1 0 0,1-2 0,2 0 0,2-3 0,6-4 0,0-5 0,1-7 0,0-6 0,0-7 0,3-6 0,-3-9 0,3-5 0,-2-8 0,4-4 0,3-7 0,5-7 0,16 20 0,1-4 0,3-1 0,2-3 0,2-3 0,3 0 0,2-2 0,3-1 0,2 0 0,1 1 0,3 0 0,1 0 0,2 5 0,2 0 0,0 1 0,0-31 0,1 0 0,3 0 0,2 1 0,4-1 0,5 0 0,6 4 0,4 2 0,6 5 0,4 4 0,1 11 0,2 4 0,-2 12 0,2 4 0,-2 5 0,2 3 0,0 6 0,1 2 0,2 2 0,1 2 0,4 3 0,2 4 0,0 7 0,3 3 0,3 4 0,3 4 0,3 3 0,2 2 0,2 1 0,-1 5 0,0 5 0,-2 6 0,-6 5 0,-3 7 0,-7 5 0,-5 6 0,-7 6 0,-4 3 0,-3 1 0,-3 3 0,-1 3 0,-3 3 0,-3 1 0,-2 1 0,-2 2 0,-3 1 0,-3 1 0,-1 2 0,-3 0 0,0 1 0,0 6 0,0 1 0,0 3 0,0 2 0,-2 4 0,-1 1 0,-2 4 0,-4 1 0,-3 2 0,-3 0 0,-3-2 0,-3 0 0,-2-5 0,-2-2 0,-1-6 0,-2-2 0,-2-2 0,-2-2 0,-1-1 0,-3-1 0,-4-1 0,-3 0 0,-2 0 0,-3 0 0,-4 0 0,-4-1 0,-8 1 0,-4-1 0,-3 1 0,-5-1 0,22-25 0,-1-1 0,-3-2 0,0-1 0,-2-3 0,0-1 0,-1-4 0,1-2 0,-2-2 0,-2-3 0,-1-2 0,-1-2 0,-1-2 0,0-3 0,-1-3 0,-2-1 0,-1-3 0,-1-1 0,0-1 0,-1-1 0,1-2 0,1-1 0,1-3 0,1-2 0,2-3 0,0-3 0,1-4 0,-27-14 0,3-7 0,3-9 0,4-7 0,2-5 0,4-5 0,1-2 0,4-2 0,4-2 0,3-3 0,3 0 0,3-3 0,5-1 0,3-2 0,4-2 0,2-1 0,-1-3 0,1-1 0,-1-2 0,-2-2 0,14 28 0,0 0 0,-1-1 0,-2-1 0,0-2 0,0 0 0,-1-1 0,1-1 0,0 0 0,-1-1 0,0 0 0,1 1 0,1 2 0,1-1 0,-1 2 0,3 3 0,0 1 0,0 2 0,-14-22 0,1 4 0,2 10 0,0 4 0,4 9 0,-1 3 0,2 8 0,-2 4 0,2 3 0,0 3 0,-35-20 0,-3 8 0,4 10 0,-2 5 0,-5 3 0,-5 2 0,-9 0 0,45 14 0,-1 2 0,-2 1 0,0 1 0,-1 2 0,1 2 0,-1 1 0,0 0 0,2 0 0,1 0 0,-42 0 0,14 0 0,6 0 0,0 4 0,-5 7 0,-10 10 0,-3 9 0,41-12 0,-1 2 0,-3 2 0,-1 3 0,0 1 0,0 2 0,-2 1 0,1 1 0,6-2 0,2 0 0,2-2 0,2 1 0,-33 26 0,4 2 0,1 0 0,1 4 0,32-26 0,0 2 0,-3 2 0,-2 2 0,-2 2 0,-1 1 0,-1 0 0,-1-1 0,2-4 0,0-1 0,5-3 0,0-2 0,-38 22 0,6-7 0,5-5 0,2-2 0,8-3 0,1-2 0,3-3 0,-4 0 0,-5 3 0,-7 2 0,-7 1 0,3-2 0,-4-2 0,7-1 0,8-5 0,7-5 0,10-6 0,6-6 0,4-3 0,5-1 0,5-2 0,-1-1 0,0 0 0,0-3 0,0 0 0,0 0 0,1 0 0,-1 0 0,0 0 0,0 0 0,0 0 0,0 0 0,0-2 0,0-5 0,3-6 0,1-6 0,3-3 0,6 0 0,4 5 0,7 4 0,3 3 0,0 0 0,0 2 0,-11-3 0,8 7 0,-8-2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8:48:52.591"/>
    </inkml:context>
    <inkml:brush xml:id="br0">
      <inkml:brushProperty name="width" value="0.35" units="cm"/>
      <inkml:brushProperty name="height" value="2.1" units="cm"/>
      <inkml:brushProperty name="color" value="#FEE009"/>
      <inkml:brushProperty name="inkEffects" value="pencil"/>
    </inkml:brush>
  </inkml:definitions>
  <inkml:trace contextRef="#ctx0" brushRef="#br0">3744 2746 16383,'-53'-18'0,"-11"-11"0,-12-22 0,31 17 0,-1-2 0,-2-5 0,1-1 0,0 0 0,0-1 0,0 0 0,3 3 0,-27-28 0,9 5 0,9 2 0,6-2 0,-4-14 0,3-2 0,3-4 0,4-3 0,5 1 0,6 0 0,3 0 0,5 2 0,5 1 0,3 4 0,6 3 0,4 5 0,3 3 0,1 3 0,0 2 0,3-5 0,8-4 0,16-10 0,-5 33 0,3-1 0,6-4 0,4-1 0,4-3 0,2 0 0,2 2 0,1 2 0,1 4 0,3 3 0,-3 6 0,1 5 0,-1 7 0,1 4 0,42-5 0,-4 18 0,1 8 0,-2 3 0,-5 4 0,-8 10 0,-6 14 0,-8 14 0,-4 9 0,-8 7 0,-5 1 0,-5 8 0,-5 3 0,-4 6 0,-8 5 0,-7 2 0,-6 1 0,-3 1 0,-1-5 0,0-1 0,-6-6 0,-12 0 0,-15 7 0,8-37 0,-4 0 0,-5 7 0,-4 2 0,-5 4 0,-4 0 0,-5 0 0,-1 0 0,-3 2 0,-2-2 0,-1-2 0,-3-2 0,-3-1 0,-2 0 0,-6 1 0,-2-2 0,-5 0 0,-2-1 0,-2 0 0,-1-1 0,1-2 0,0 0 0,1-1 0,1 1 0,1 0 0,1 2 0,-1 0 0,0 1 0,-2 4 0,1 1 0,1-1 0,1 0 0,0 1 0,1 1 0,-1-1 0,1 0 0,2-1 0,1 0 0,0 1 0,1-1 0,3-3 0,1-1 0,6-2 0,1-1 0,5-3 0,1-2 0,7-5 0,1 0 0,4-2 0,1-1 0,3-2 0,0 0 0,-38 28 0,7 1 0,6-5 0,6-5 0,4-5 0,6-8 0,8-5 0,9-4 0,8-5 0,11-7 0,7-10 0,18-35 0,-2 8 0,17-27 0,-5 13 0,6-5 0,2-3 0,5-2 0,4-4 0,7-5 0,11-4 0,6-3 0,7-6 0,1 0 0,-34 32 0,0-1 0,1-1 0,0 0 0,1 0 0,1 0 0,2-3 0,0-1 0,-2 2 0,0-1 0,-1 3 0,-1 0 0,31-30 0,-7 5 0,-2-4 0,0-2 0,-1 1 0,-3 4 0,-9 13 0,-7 12 0,-13 13 0,-10 10 0,-11 11 0,-24 28 0,6-5 0,-13 18 0,12-16 0,2-2 0,1-2 0,1 0 0,0-1 0,1 1 0,-2 2 0,0 3 0,0-2 0,-2 3 0,1-4 0,0 1 0,-1 0 0,-2-2 0,-1 1 0,1-2 0,2-1 0,4 0 0,-4 1 0,-4 3 0,-7 5 0,-9 7 0,-4 1 0,-3 4 0,-2 0 0,5-2 0,3 1 0,0-3 0,2 2 0,-2-1 0,-2 3 0,2 2 0,-1-3 0,0 3 0,0 1 0,-1 2 0,-4 3 0,2 0 0,2 0 0,5-5 0,4-4 0,0-1 0,0-4 0,1 1 0,-1-1 0,1-4 0,1 0 0,-2 3 0,-3 4 0,-1 3 0,-1-1 0,1-4 0,8-4 0,6-1 0,4-5 0,7-10 0,4-9 0,17-25 0,-3 10 0,14-17 0,-9 12 0,1-2 0,1-1 0,0 3 0,2 0 0,0 2 0,-1 0 0,-2 2 0,-1 3 0,1 1 0,0 0 0,-1-1 0,-3 1 0,-4 0 0,4 0 0,0-1 0,5-3 0,5 2 0,1 2 0,1 0 0,-1 3 0,-1-3 0,0 1 0,3-1 0,1-2 0,0-1 0,-1 0 0,1 1 0,0 3 0,0 3 0,0-1 0,0-1 0,0-3 0,0 0 0,0 1 0,0-2 0,-1 1 0,5-3 0,0 3 0,1 0 0,3 0 0,-4 1 0,2-2 0,2 0 0,-3 0 0,-1-3 0,-1 1 0,-3 4 0,0 0 0,-1 3 0,-2 0 0,-1 0 0,0 0 0,1-4 0,3-2 0,4-2 0,0 0 0,1 1 0,-1 0 0,-5 3 0,1 0 0,0 1 0,0 1 0,-3-2 0,0 1 0,-1 1 0,1-2 0,3-1 0,-3 1 0,-1-4 0,0 1 0,1 0 0,-1 0 0,-2 2 0,-2 1 0,-2 1 0,1 1 0,1 1 0,0-2 0,0-1 0,-1-2 0,3 0 0,2 0 0,0 2 0,0 0 0,-6 2 0,-10 5 0,-4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39.625"/>
    </inkml:context>
    <inkml:brush xml:id="br0">
      <inkml:brushProperty name="width" value="0.1" units="cm"/>
      <inkml:brushProperty name="height" value="0.1" units="cm"/>
      <inkml:brushProperty name="color" value="#15149E"/>
    </inkml:brush>
  </inkml:definitions>
  <inkml:trace contextRef="#ctx0" brushRef="#br0">3648 1379 24575,'-27'0'0,"-9"0"0,-12 0 0,-10 0 0,-3 0 0,-6 0 0,-6 0 0,-6-2 0,-10-7 0,6-7 0,2-7 0,2-3 0,6-1 0,0 0 0,3 0 0,-3-6 0,-1-1 0,4-4 0,2-5 0,3-4 0,3-7 0,1-3 0,9 1 0,7 0 0,7 4 0,9 1 0,8-1 0,9 1 0,6 0 0,4 0 0,2 1 0,0 4 0,4 5 0,6 4 0,8 4 0,12 0 0,10 2 0,7 1 0,1 5 0,-3 8 0,-5 7 0,-3 7 0,-1 5 0,3 9 0,2 14 0,-2 13 0,-4 10 0,-7 2 0,-5 6 0,-4 1 0,-7 3 0,-6 5 0,-4 0 0,-3 6 0,-8 5 0,-14 7 0,2-37 0,-3 1 0,-8 4 0,-2 0 0,-4 2 0,-2-1 0,-1-1 0,-3-2 0,3-5 0,-1-4 0,2-4 0,-2-5 0,-41 20 0,-5-12 0,-7-9 0,43-19 0,-1-3 0,-5-1 0,0-2 0,-4-2 0,0-2 0,-2-1 0,-1 0 0,3 1 0,1-2 0,2-1 0,1-2 0,6-3 0,1-4 0,-40-17 0,12-11 0,15-4 0,9-2 0,7-7 0,4-4 0,2-1 0,2-2 0,4-1 0,4 0 0,0 2 0,2 3 0,1 4 0,1 0 0,4 1 0,1-1 0,3 0 0,0-1 0,2 4 0,1 4 0,3 3 0,2 4 0,2 1 0,2-1 0,0 4 0,-1 1 0,0-1 0,1-1 0,0-2 0,1 3 0,-2 7 0,4 4 0,-1 5 0,1 2 0,-1 3 0,1 3 0,2 2 0,1 5 0,2 11 0,0 2 0,0 9 0,0 1 0,-2 7 0,-2 8 0,-1 6 0,-4 4 0,-1 1 0,-2 4 0,2 1 0,0-2 0,3-2 0,3-5 0,-1-3 0,1-7 0,1-4 0,0-6 0,1-10 0,-1-7 0,-2-13 0,-1-14 0,3-5 0,0-10 0,3-9 0,0-13 0,0-15 0,0-5 0,0 4 0,0 12 0,0 10 0,0 14 0,0 7 0,0 7 0,0 5 0,0 5 0,0 2 0,0 3 0,0 0 0,0 3 0,0 1 0,0 0 0,2 4 0,2 2 0,3 3 0,3 1 0,0 0 0,3 3 0,0 1 0,4 1 0,2 1 0,2 0 0,1 0 0,-2 0 0,-1 0 0,0 0 0,1 0 0,3 1 0,-2 0 0,-2 1 0,0 1 0,-3-2 0,1 1 0,-1-4 0,0 0 0,0-1 0,0 0 0,1 1 0,-1-2 0,0 0 0,-1 2 0,-1-1 0,2 3 0,-2-3 0,1 0 0,-2 0 0,-1 0 0,0 0 0,-1-2 0,0-1 0,-2-1 0,-2 1 0,-1-1 0,-2 0 0,0 1 0,0-2 0,-2-1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09.080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97 1 16383,'75'0'0,"19"0"0,-33 0 0,4 0 0,7 0 0,1 0 0,-1 0 0,-1 0 0,-1 0 0,-1 0 0,-5 2 0,-2 2 0,-8 3 0,-4 5 0,36 25 0,-14 18 0,-14 11 0,-10-1 0,-11 0 0,-9-4 0,-11-5 0,-8-1 0,-6-4 0,-3-4 0,0 0 0,-2 1 0,-8 4 0,-11 4 0,-12 3 0,-13 0 0,-7-2 0,-6 0 0,-8-7 0,-4-4 0,-6-5 0,-5-4 0,-2-3 0,-3-2 0,1-2 0,0 1 0,3 4 0,1 3 0,4 7 0,8 0 0,10 1 0,11-1 0,11 0 0,9 2 0,7 1 0,9 3 0,5 4 0,2 3 0,3 2 0,1 4 0,14 0 0,20 4 0,24 2 0,-18-33 0,4-2 0,6 2 0,4-2 0,3-1 0,3-3 0,5 0 0,4-3 0,9-1 0,4-3 0,6-1 0,4-2 0,6-2 0,2-2 0,-29-6 0,1-1 0,1-2 0,0 0 0,2-2 0,-1 0 0,1-2 0,0-1 0,-1 0 0,1-1 0,0 0 0,-1-2 0,-1-2 0,1-2 0,-2-2 0,-1-2 0,0-1 0,-1-2 0,0-1 0,-1-2 0,-1-2 0,29-11 0,-2-3 0,-6 2 0,-2-1 0,-5 2 0,-1-1 0,-2 1 0,0 0 0,0 0 0,0-1 0,4-1 0,1-3 0,6-3 0,2-3 0,-28 11 0,2 0 0,0-1 0,2-1 0,1-1 0,0 1 0,1-1 0,0-1 0,0 1 0,1 0 0,0 1 0,-1 0 0,1-1 0,-1 0 0,-1 0 0,-3 1 0,0 0 0,-2 0 0,26-13 0,-4 0 0,-7 0 0,-5 1 0,-9 3 0,-3 1 0,-10 4 0,-3 0 0,21-23 0,-24 10 0,-18 6 0,-12 6 0,-9 1 0,-4 1 0,-9 1 0,-17 0 0,-24 2 0,-30 10 0,-11 4 0,33 6 0,-2 1 0,-38-4 0,1 5 0,0 11 0,10 7 0,14 8 0,10 10 0,13 7 0,9 3 0,8 5 0,7 3 0,6-2 0,6 2 0,5 0 0,3 1 0,0 6 0,2 2 0,0 4 0,3-1 0,0-1 0,3 1 0,6 0 0,11 5 0,11-2 0,13 3 0,9-4 0,9-3 0,12 0 0,6-3 0,-35-28 0,1-1 0,4-1 0,1-2 0,3-2 0,2-2 0,3-1 0,1-2 0,2-3 0,2-2 0,2-1 0,2-2 0,3-2 0,2-2 0,7-2 0,3 0 0,8-1 0,1 0 0,2-1 0,1 0 0,3 0 0,1 0 0,-3 0 0,1 0 0,-2-3 0,1-2 0,2-2 0,-1-3 0,-31 2 0,0-3 0,0-1 0,1-2 0,0-1 0,0-1 0,-1 0 0,0 0 0,0-2 0,-1 0 0,-1-2 0,0 0 0,28-10 0,0-2 0,-2-1 0,-1-1 0,-3-1 0,0-1 0,-4 1 0,-1-2 0,-3 1 0,-3-1 0,-4 2 0,-1 0 0,3 1 0,0 1 0,2 1 0,0 1 0,7-1 0,2 0 0,2-1 0,2 0 0,-2 0 0,0 2 0,-2 3 0,-1 4 0,-9 3 0,-1 3 0,-5 5 0,-1 4 0,-6 2 0,-1 3 0,-2 1 0,-1 1 0,1 2 0,-1 0 0,-3 0 0,0 0 0,-3 2 0,0 2 0,38 11 0,-12 14 0,-14 17 0,-11 16 0,-11 11 0,-4 14 0,-20-38 0,-1 2 0,-2 3 0,-1 0 0,0 3 0,-3 0 0,-1-3 0,-2-1 0,1 44 0,-1-5 0,1-6 0,7 1 0,7-1 0,3-5 0,7-9 0,5-11 0,6-14 0,7-10 0,2-12 0,4-8 0,4-6 0,11-6 0,12-3 0,13-2 0,-45 0 0,-1 0 0,1-1 0,0-1 0,43-8 0,-5-7 0,-2-5 0,-4 0 0,-1 2 0,-3 2 0,-7 0 0,-2 1 0,-1 0 0,-1 1 0,-7 0 0,-11 4 0,-11 4 0,-15 2 0,-10 3 0,-8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18.848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14725 1 16383,'0'51'0,"0"13"0,0 21 0,-1-36 0,2 5 0,2 28 0,1 3 0,-3-18 0,0 0 0,2 23 0,1-1 0,-4-25 0,0-4 0,0-8 0,0-1 0,0 45 0,0-9 0,0 3 0,-1-38 0,-2 0 0,-3 0 0,-2 0 0,-3 2 0,-2 0 0,-3 0 0,-2-1 0,-2-1 0,0-1 0,0-5 0,0 0 0,-23 34 0,2-12 0,-1-10 0,-1-4 0,1-4 0,-1-2 0,0-3 0,4-6 0,0-5 0,6-10 0,3-10 0,0-8 0,1-5 0,-6-1 0,-5-8 0,-7-10 0,0-10 0,3-12 0,6-1 0,7-3 0,6 0 0,10 0 0,6-7 0,6-7 0,3-12 0,0-9 0,0-3 0,0 1 0,4 9 0,7 6 0,7 7 0,8 7 0,2 7 0,4 9 0,7 4 0,13 0 0,11 5 0,6 6 0,4 10 0,-4 7 0,0 6 0,7 8 0,13 15 0,-40-6 0,1 3 0,1 4 0,0 2 0,-3 3 0,-1 1 0,-5-2 0,-1 2 0,25 28 0,-11 1 0,-10-1 0,-8 4 0,0 4 0,-4-3 0,-2-1 0,-3-5 0,-5-1 0,-5-1 0,-3-1 0,-5-1 0,-5 2 0,-2 2 0,-3 4 0,0 5 0,0 4 0,0 6 0,0 4 0,-6 0 0,-11 1 0,-8-5 0,-13-1 0,-8 1 0,-12-2 0,20-34 0,-5-1 0,-6 1 0,-5 0 0,-8 4 0,-3 1 0,-8 3 0,-2 1 0,-4 1 0,-1 1 0,24-16 0,-1-1 0,1 1 0,-28 17 0,-1-2 0,2-1 0,-1-2 0,0-2 0,0-3 0,1-1 0,-1-2 0,-5-1 0,-2-1 0,29-14 0,-1 0 0,-1 0 0,-3-1 0,-1 0 0,-1-1 0,-5 1 0,-1-1 0,0-1 0,-2 1 0,-1-2 0,-1 1 0,-3-1 0,-1 0 0,0-1 0,-1 0 0,0-1 0,-1-1 0,-1-1 0,-2-1 0,0-1 0,0-2 0,-1 0 0,0-3 0,-1-1 0,0-2 0,1-1 0,-2 0 0,1-1 0,0 0 0,-1-1 0,-1-1 0,0 0 0,-6-1 0,-1 0 0,-1 0 0,24-1 0,0 0 0,0 0 0,-1 0 0,-5 0 0,0-2 0,0 1 0,-1 0 0,0 0 0,0 0 0,0 0 0,0 0 0,-1 0 0,0 0 0,-1 0 0,0 0 0,-3 0 0,-1 0 0,0 0 0,-1 0 0,-2 0 0,0 0 0,-1 0 0,-1 0 0,-3 0 0,-2 0 0,0 0 0,-1 0 0,18 0 0,0 0 0,-1 0 0,0 0 0,1 0 0,0 0 0,0 0 0,1 0 0,-1 0 0,0 0 0,1 0 0,-1 0 0,0 0 0,0 0 0,1 0 0,-16 0 0,0 0 0,0 0 0,1 0 0,1 0 0,0 0 0,1 0 0,0 0 0,1 0 0,-1 0 0,2 0 0,0 0 0,6 0 0,0 0 0,0 0 0,1 0 0,-1 0 0,0 0 0,0 0 0,2 0 0,6 0 0,2 0 0,0 0 0,0 0 0,0 0 0,-1 0 0,1 0 0,1 0 0,-24 0 0,1 0 0,0 0 0,-1 0 0,0 1 0,-1-2 0,25 1 0,-2-1 0,1-1 0,2 1 0,-20-2 0,1 0 0,1-1 0,2-1 0,0 0 0,2-1 0,6 0 0,2-1 0,0 1 0,3 0 0,0-1 0,1 1 0,3 0 0,1 0 0,1 0 0,-27-3 0,2 0 0,6 2 0,1 0 0,4 1 0,2 0 0,4 0 0,0 0 0,-1 1 0,1 1 0,3-2 0,1 0 0,1 1 0,1 1 0,5 0 0,1 0 0,5-2 0,4 1 0,-42-4 0,21-3 0,15-2 0,15 0 0,11-3 0,7-1 0,9-2 0,7-2 0,6 0 0,5-3 0,1-1 0,3 0 0,0-3 0,0 3 0,5-3 0,4 0 0,3-4 0,2-3 0,-1-9 0,0-7 0,0-5 0,1-3 0,1 0 0,-1 0 0,-1-1 0,-1-4 0,-4-6 0,2-3 0,-3-6 0,-4-6 0,-1 2 0,-2-1 0,0 8 0,0 7 0,0 5 0,0 2 0,0 3 0,0 3 0,0 1 0,0 7 0,0 2 0,0 3 0,0 1 0,0-1 0,0 0 0,0 0 0,0 3 0,0 6 0,0 6 0,0 4 0,0 5 0,0 3 0,0 3 0,0 4 0,0 36 0,0-5 0,0 32 0,0-13 0,0-4 0,0-2 0,0-1 0,0 0 0,0 1 0,0 0 0,0-2 0,-2-1 0,-4 1 0,-3 1 0,-3-3 0,0-1 0,1-4 0,0-3 0,2 0 0,2 2 0,0 1 0,1 1 0,-3 0 0,-1-2 0,-1-2 0,1 0 0,1 0 0,0 0 0,1 0 0,-1 0 0,1 1 0,0-3 0,-1-1 0,1 0 0,0-2 0,-1 2 0,0 0 0,-2 1 0,-2 2 0,-1 0 0,0 0 0,-1-1 0,2-2 0,-1 0 0,-2 0 0,-2 2 0,0 1 0,-1 0 0,1 1 0,1-1 0,0 0 0,2-3 0,2 0 0,0-2 0,1-1 0,2-1 0,0-3 0,2-1 0,0-1 0,2-1 0,2-1 0,-4 0 0,3-4 0,-6 1 0,4-4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21.604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1 1 16383,'0'44'0,"0"1"0,3 10 0,2 0 0,3-2 0,3-5 0,-2-8 0,0-8 0,-1-3 0,-3-2 0,1-1 0,1 3 0,-1-1 0,1-2 0,-1-2 0,1-2 0,2 0 0,-1 0 0,0 0 0,1 0 0,1 0 0,0 4 0,2 0 0,-1 3 0,1 0 0,0 0 0,0 1 0,2-1 0,1 1 0,2-1 0,3 0 0,-3-3 0,0-1 0,-1-3 0,-1 0 0,2 0 0,0 1 0,-1-2 0,1-2 0,-1 0 0,3 0 0,-2-1 0,2 1 0,0-3 0,-1 2 0,1-1 0,-1 0 0,-2 0 0,2-2 0,-1 1 0,-1-2 0,-3-1 0,2-3 0,-1-2 0,0 0 0,-1 0 0,-3 0 0,-3-1 0,-1-3 0,-2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09.140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0 201 16383,'68'0'0,"-4"0"0,-5 0 0,3 0 0,1 0 0,1 0 0,0 0 0,1 0 0,3 0 0,5 0 0,9 0 0,7 0 0,-38 0 0,0 0 0,2 0 0,1 0 0,1 0 0,1 0 0,0 0 0,0 0 0,-1 0 0,0 0 0,0 0 0,-1 0 0,-1 0 0,-1 0 0,0 0 0,0 0 0,47 0 0,-3 0 0,-1 0 0,1 0 0,2 0 0,0 0 0,-2 0 0,-1 0 0,1 0 0,-4-7 0,-1-1 0,-5 0 0,-4-1 0,1 5 0,-2 0 0,-2-2 0,3 2 0,1-1 0,-19-1 0,2 0 0,33-1 0,-33 2 0,-1 1 0,20 0 0,2 4 0,-1 0 0,-3 0 0,-4 0 0,-5 0 0,0 0 0,0 0 0,3 0 0,0 0 0,1 0 0,3 0 0,1 0 0,5 0 0,-2 4 0,3-1 0,1 1 0,-1 0 0,2-4 0,4 0 0,-44 0 0,0 0 0,2 0 0,0 0 0,2 0 0,1 0 0,0 0 0,0 0 0,0 0 0,0 0 0,2 0 0,0 0 0,-1 0 0,0 0 0,-1 0 0,-1 0 0,-1 0 0,0 0 0,46 0 0,0 0 0,-49 0 0,0 0 0,1 0 0,1 0 0,3 0 0,1 0 0,0 0 0,1 0 0,3 0 0,-1 0 0,0 0 0,0 0 0,1 0 0,-1 0 0,-3 0 0,0 0 0,-4 0 0,0 0 0,45 0 0,-9 0 0,-1 0 0,-4 0 0,-1 0 0,-5 0 0,-2 0 0,2 0 0,-4 0 0,-1 0 0,-4 0 0,-2 0 0,0 0 0,3 0 0,-1 0 0,0 0 0,1 0 0,-1 0 0,1 3 0,-1 1 0,1 0 0,4-1 0,5-3 0,4 0 0,1 0 0,-6 0 0,-5 0 0,-4 1 0,0 2 0,2 0 0,0 2 0,-1 0 0,1-1 0,-1 1 0,1 1 0,1-2 0,-2-1 0,0-2 0,-1-1 0,2 0 0,-1 0 0,0 0 0,-3 0 0,-2 0 0,-3 0 0,-1 0 0,1 0 0,-1 0 0,4 0 0,1 0 0,8 0 0,5 0 0,4 0 0,0 0 0,0 0 0,1 0 0,-3 0 0,2 0 0,-5 0 0,-3 0 0,-4 0 0,-4 0 0,-4 0 0,-2 0 0,3 0 0,5 0 0,8 0 0,11-2 0,10-5 0,1-1 0,0-2 0,-7 2 0,-8 1 0,-10 1 0,-10 3 0,-9-1 0,-7 2 0,1-1 0,-1-3 0,6 0 0,7-1 0,4-2 0,5 1 0,-3 1 0,-2 1 0,-4 2 0,-5 0 0,-1 3 0,-6-2 0,-3-1 0,-4-2 0,-4 0 0,0 0 0,-1-3 0,4 3 0,3 0 0,1 1 0,-1 2 0,-7 0 0,-6 0 0,-5 3 0,-6 0 0,-6-2 0,-5 2 0,-6-3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11.574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0 1 16383,'0'56'0,"0"4"0,0 7 0,0 10 0,0 1 0,0-1 0,0-8 0,0-9 0,0-9 0,0-5 0,0-4 0,0-3 0,0-2 0,0-4 0,0-4 0,0-3 0,0-2 0,0-3 0,0-3 0,0-4 0,0-5 0,0-3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14.092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1 0 16383,'0'48'0,"0"14"0,0 7 0,0 12 0,0-2 0,0-12 0,0-6 0,0-11 0,0-6 0,0-7 0,0-3 0,0-4 0,0 0 0,0-1 0,0-1 0,0 4 0,0-2 0,0 3 0,0-3 0,0-1 0,0 0 0,0-3 0,0-1 0,0-4 0,0-3 0,0-7 0,0-4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19.961"/>
    </inkml:context>
    <inkml:brush xml:id="br0">
      <inkml:brushProperty name="width" value="0.35" units="cm"/>
      <inkml:brushProperty name="height" value="2.1" units="cm"/>
      <inkml:brushProperty name="color" value="#5B2D90"/>
      <inkml:brushProperty name="inkEffects" value="pencil"/>
    </inkml:brush>
  </inkml:definitions>
  <inkml:trace contextRef="#ctx0" brushRef="#br0">1 222 16383,'50'0'0,"4"0"0,12 0 0,8 0 0,9 0 0,5 0 0,-1 0 0,1 0 0,4 0 0,-1-1 0,6-5 0,-1-2 0,1 1 0,-47 2 0,1 1 0,0 1 0,0 0 0,3 0 0,0-2 0,2 0 0,0-1 0,2 2 0,0-1 0,-1-1 0,1 1 0,-1 1 0,-1 1 0,-2 0 0,-1 2 0,47-1 0,-6 2 0,0 0 0,-2 0 0,0 0 0,-2 0 0,0 0 0,2 0 0,4 0 0,1 0 0,-4 0 0,-2 0 0,-4 0 0,-1 0 0,0 0 0,0 0 0,-1 0 0,2 0 0,-2 0 0,-3 0 0,0 0 0,0 0 0,1 0 0,7 0 0,2 0 0,-4 0 0,-2 0 0,-4 0 0,0 0 0,4 0 0,1 0 0,0 0 0,3 3 0,1 1 0,1 3 0,-1 1 0,-3-4 0,-2-1 0,-3-3 0,-3 0 0,-3 0 0,-1 0 0,1 0 0,1 0 0,5 0 0,0 0 0,5 0 0,3 0 0,5-3 0,4-5 0,-50 4 0,0 0 0,47-7 0,-6 4 0,-2 3 0,-7 1 0,-4 3 0,-1 0 0,-2-2 0,7-2 0,5 1 0,1 0 0,4 0 0,-4-1 0,3 0 0,1 1 0,0 2 0,4-3 0,1 0 0,1 0 0,-47 2 0,-1 1 0,47 1 0,0 0 0,-1 0 0,0-4 0,2 0 0,-6 0 0,-4 0 0,-9 4 0,-5 0 0,-3 0 0,-2 0 0,-1 0 0,0 0 0,1 0 0,4 0 0,1 0 0,4 0 0,3 0 0,-2 0 0,2 0 0,-3 0 0,-2 0 0,2 0 0,0 0 0,5 0 0,3-3 0,5-1 0,3-2 0,3-1 0,2 3 0,-2 0 0,-5 2 0,-4 2 0,-7 0 0,-1 0 0,0 0 0,6 0 0,2 0 0,4 0 0,3 0 0,-6 0 0,-1 0 0,-2 0 0,-6 0 0,1 0 0,0 0 0,-3 0 0,-1 0 0,-1 0 0,-2 0 0,4 0 0,0 0 0,1-3 0,-1-1 0,1 0 0,5 1 0,3 3 0,9 0 0,1 0 0,3 0 0,-3 0 0,-3 0 0,-2-4 0,-4 0 0,-4 0 0,-1 0 0,-9 4 0,-6 0 0,0 0 0,-4 0 0,4 0 0,1 0 0,-5 0 0,-4 0 0,-5 0 0,-7 0 0,-5 0 0,-9 0 0,-11 0 0,-9 0 0,-8 0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20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540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097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94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057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65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81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21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20.10.2026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20.10.2026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20.10.2026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20.10.2026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g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.xml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customXml" Target="../ink/ink6.xml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customXml" Target="../ink/ink8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8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525" y="2733152"/>
            <a:ext cx="3403476" cy="1549219"/>
          </a:xfrm>
          <a:ln w="28575"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268288" indent="0"/>
            <a:r>
              <a:rPr lang="ru-RU" sz="4800" b="1" i="0" u="none" strike="noStrike" cap="none" dirty="0" err="1">
                <a:solidFill>
                  <a:srgbClr val="FFFFFF"/>
                </a:solidFill>
                <a:ea typeface="Arial"/>
                <a:cs typeface="Arial"/>
                <a:sym typeface="Arial"/>
              </a:rPr>
              <a:t>JaJaBinx</a:t>
            </a:r>
            <a:endParaRPr lang="ru-RU" sz="4800" dirty="0">
              <a:solidFill>
                <a:srgbClr val="FFFFFF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850029"/>
            <a:ext cx="9753600" cy="1880534"/>
          </a:xfrm>
        </p:spPr>
        <p:txBody>
          <a:bodyPr anchor="ctr">
            <a:normAutofit/>
          </a:bodyPr>
          <a:lstStyle/>
          <a:p>
            <a:pPr indent="268288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accent2">
                    <a:lumMod val="90000"/>
                  </a:schemeClr>
                </a:solidFill>
              </a:rPr>
              <a:t>Задача </a:t>
            </a:r>
            <a:r>
              <a:rPr lang="ru-RU" sz="2000" b="1" dirty="0">
                <a:solidFill>
                  <a:schemeClr val="accent2">
                    <a:lumMod val="90000"/>
                  </a:schemeClr>
                </a:solidFill>
              </a:rPr>
              <a:t>№ 1</a:t>
            </a:r>
          </a:p>
          <a:p>
            <a:pPr indent="280988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Сервис для автоматизированного сбора и анализа зарождающихся</a:t>
            </a:r>
          </a:p>
          <a:p>
            <a:pPr indent="228600"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 трендов (слабые сигналы) в научно-технологических отраслях</a:t>
            </a:r>
          </a:p>
          <a:p>
            <a:pPr indent="268288"/>
            <a:endParaRPr lang="ru-RU" sz="2000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Image 15" descr=" ">
            <a:extLst>
              <a:ext uri="{FF2B5EF4-FFF2-40B4-BE49-F238E27FC236}">
                <a16:creationId xmlns:a16="http://schemas.microsoft.com/office/drawing/2014/main" id="{1758241C-B30C-0A01-1947-B6D497B44AC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>
            <a:fillRect/>
          </a:stretch>
        </p:blipFill>
        <p:spPr>
          <a:xfrm>
            <a:off x="416369" y="583644"/>
            <a:ext cx="4699000" cy="6731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EB4AA0-6816-0113-9166-654FEC974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209" y="2321859"/>
            <a:ext cx="2079310" cy="20793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1" name="Рукописный ввод 40">
                <a:extLst>
                  <a:ext uri="{FF2B5EF4-FFF2-40B4-BE49-F238E27FC236}">
                    <a16:creationId xmlns:a16="http://schemas.microsoft.com/office/drawing/2014/main" id="{EDF7A7C8-3C51-0CDF-AFE5-87EE1A67F45D}"/>
                  </a:ext>
                </a:extLst>
              </p14:cNvPr>
              <p14:cNvContentPartPr/>
              <p14:nvPr/>
            </p14:nvContentPartPr>
            <p14:xfrm>
              <a:off x="3767287" y="2203108"/>
              <a:ext cx="4636440" cy="1320120"/>
            </p14:xfrm>
          </p:contentPart>
        </mc:Choice>
        <mc:Fallback xmlns="">
          <p:pic>
            <p:nvPicPr>
              <p:cNvPr id="41" name="Рукописный ввод 40">
                <a:extLst>
                  <a:ext uri="{FF2B5EF4-FFF2-40B4-BE49-F238E27FC236}">
                    <a16:creationId xmlns:a16="http://schemas.microsoft.com/office/drawing/2014/main" id="{EDF7A7C8-3C51-0CDF-AFE5-87EE1A67F4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4287" y="1825468"/>
                <a:ext cx="4762080" cy="20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55" name="Рукописный ввод 54">
                <a:extLst>
                  <a:ext uri="{FF2B5EF4-FFF2-40B4-BE49-F238E27FC236}">
                    <a16:creationId xmlns:a16="http://schemas.microsoft.com/office/drawing/2014/main" id="{D8D929F3-9B6F-1684-B068-DBEE1B8B2C1A}"/>
                  </a:ext>
                </a:extLst>
              </p14:cNvPr>
              <p14:cNvContentPartPr/>
              <p14:nvPr/>
            </p14:nvContentPartPr>
            <p14:xfrm>
              <a:off x="2436367" y="1949668"/>
              <a:ext cx="1462680" cy="1515240"/>
            </p14:xfrm>
          </p:contentPart>
        </mc:Choice>
        <mc:Fallback xmlns="">
          <p:pic>
            <p:nvPicPr>
              <p:cNvPr id="55" name="Рукописный ввод 54">
                <a:extLst>
                  <a:ext uri="{FF2B5EF4-FFF2-40B4-BE49-F238E27FC236}">
                    <a16:creationId xmlns:a16="http://schemas.microsoft.com/office/drawing/2014/main" id="{D8D929F3-9B6F-1684-B068-DBEE1B8B2C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3367" y="1572028"/>
                <a:ext cx="1588320" cy="2270880"/>
              </a:xfrm>
              <a:prstGeom prst="rect">
                <a:avLst/>
              </a:prstGeom>
            </p:spPr>
          </p:pic>
        </mc:Fallback>
      </mc:AlternateContent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E9B3AE6-4C24-620E-2CFB-E4C1DF9238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514" y="630887"/>
            <a:ext cx="3403476" cy="510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8B3DAD-ABA7-C09D-E1F5-2C7C4A549B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22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9959" t="-853" r="-9959" b="27257"/>
          <a:stretch/>
        </p:blipFill>
        <p:spPr>
          <a:xfrm>
            <a:off x="0" y="334963"/>
            <a:ext cx="6456363" cy="2971800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08027" y="2171730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19903" y="4655896"/>
            <a:ext cx="4945565" cy="18810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solidFill>
                  <a:schemeClr val="tx1"/>
                </a:solidFill>
              </a:rPr>
              <a:t>Уникальность </a:t>
            </a:r>
            <a:r>
              <a:rPr lang="en" b="1" dirty="0">
                <a:solidFill>
                  <a:schemeClr val="tx1"/>
                </a:solidFill>
              </a:rPr>
              <a:t>IDEA –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в научно-бизнесовом  фокусе и широком охвате: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радар сопоставляет публикации и гранты с патентами, финансированием, новостями, </a:t>
            </a:r>
            <a:r>
              <a:rPr lang="en" dirty="0">
                <a:solidFill>
                  <a:schemeClr val="accent2">
                    <a:lumMod val="50000"/>
                  </a:schemeClr>
                </a:solidFill>
              </a:rPr>
              <a:t>GitHub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 </a:t>
            </a:r>
            <a:r>
              <a:rPr lang="en" dirty="0">
                <a:solidFill>
                  <a:schemeClr val="accent2">
                    <a:lumMod val="50000"/>
                  </a:schemeClr>
                </a:solidFill>
              </a:rPr>
              <a:t>Hugging Face,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закупками и докладами по всему миру</a:t>
            </a:r>
            <a:r>
              <a:rPr lang="ru-RU" dirty="0">
                <a:solidFill>
                  <a:schemeClr val="tx1"/>
                </a:solidFill>
              </a:rPr>
              <a:t>. Пользователь может уточнить направление в чате, а система проверяет цитаты и независимость источников и прозрачно оценивает новизну и зрелость технологии. 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>
                <a:solidFill>
                  <a:schemeClr val="tx1"/>
                </a:solidFill>
              </a:rPr>
              <a:t>Мокин</a:t>
            </a:r>
            <a:r>
              <a:rPr lang="ru-RU" dirty="0">
                <a:solidFill>
                  <a:schemeClr val="tx1"/>
                </a:solidFill>
              </a:rPr>
              <a:t> Арсений Кириллович, </a:t>
            </a:r>
            <a:r>
              <a:rPr lang="en-US" dirty="0">
                <a:solidFill>
                  <a:schemeClr val="tx1"/>
                </a:solidFill>
              </a:rPr>
              <a:t>Data Scientist</a:t>
            </a: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err="1">
                <a:solidFill>
                  <a:schemeClr val="tx1"/>
                </a:solidFill>
              </a:rPr>
              <a:t>Мокин</a:t>
            </a:r>
            <a:r>
              <a:rPr lang="ru-RU" dirty="0">
                <a:solidFill>
                  <a:schemeClr val="tx1"/>
                </a:solidFill>
              </a:rPr>
              <a:t> Арсений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Родионов Иван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Ивлева Юлия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МГУ =&gt; Ингосстрах - </a:t>
            </a:r>
            <a:r>
              <a:rPr lang="ru-RU" i="1" dirty="0" err="1">
                <a:solidFill>
                  <a:schemeClr val="tx1"/>
                </a:solidFill>
              </a:rPr>
              <a:t>Сбер</a:t>
            </a:r>
            <a:r>
              <a:rPr lang="ru-RU" i="1" dirty="0">
                <a:solidFill>
                  <a:schemeClr val="tx1"/>
                </a:solidFill>
              </a:rPr>
              <a:t> - </a:t>
            </a:r>
            <a:r>
              <a:rPr lang="ru-RU" i="1" dirty="0" err="1">
                <a:solidFill>
                  <a:schemeClr val="tx1"/>
                </a:solidFill>
              </a:rPr>
              <a:t>НейроЗнание</a:t>
            </a:r>
            <a:endParaRPr lang="ru-RU" i="1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457" y="964163"/>
            <a:ext cx="3636703" cy="1015128"/>
          </a:xfrm>
        </p:spPr>
        <p:txBody>
          <a:bodyPr/>
          <a:lstStyle/>
          <a:p>
            <a:pPr algn="ctr"/>
            <a:r>
              <a:rPr lang="ru-RU" sz="2400" b="1" i="0" u="none" strike="noStrike" cap="none" dirty="0">
                <a:solidFill>
                  <a:schemeClr val="accent5">
                    <a:lumMod val="75000"/>
                  </a:schemeClr>
                </a:solidFill>
                <a:ea typeface="Arial"/>
                <a:cs typeface="Arial"/>
                <a:sym typeface="Arial"/>
              </a:rPr>
              <a:t>«</a:t>
            </a:r>
            <a:r>
              <a:rPr lang="ru-RU" sz="2400" b="1" i="0" u="none" strike="noStrike" cap="none" dirty="0" err="1">
                <a:solidFill>
                  <a:schemeClr val="accent5">
                    <a:lumMod val="75000"/>
                  </a:schemeClr>
                </a:solidFill>
                <a:ea typeface="Arial"/>
                <a:cs typeface="Arial"/>
                <a:sym typeface="Arial"/>
              </a:rPr>
              <a:t>JaJaBinx</a:t>
            </a:r>
            <a:r>
              <a:rPr lang="ru-RU" sz="2400" b="1" i="0" u="none" strike="noStrike" cap="none" dirty="0">
                <a:solidFill>
                  <a:schemeClr val="accent5">
                    <a:lumMod val="75000"/>
                  </a:schemeClr>
                </a:solidFill>
                <a:ea typeface="Arial"/>
                <a:cs typeface="Arial"/>
                <a:sym typeface="Arial"/>
              </a:rPr>
              <a:t>»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644" y="2071148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167824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259091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791325" y="2583584"/>
            <a:ext cx="4945564" cy="153860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b="1" dirty="0">
                <a:solidFill>
                  <a:schemeClr val="tx1"/>
                </a:solidFill>
              </a:rPr>
              <a:t>IDEA</a:t>
            </a:r>
            <a:r>
              <a:rPr lang="en" dirty="0">
                <a:solidFill>
                  <a:schemeClr val="tx1"/>
                </a:solidFill>
              </a:rPr>
              <a:t> (Intelligent Discovery &amp; Evaluation Assistant) </a:t>
            </a:r>
            <a:r>
              <a:rPr lang="ru-RU" dirty="0">
                <a:solidFill>
                  <a:schemeClr val="tx1"/>
                </a:solidFill>
              </a:rPr>
              <a:t>–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радар ранних технологических сигналов.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Он </a:t>
            </a: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отслеживает научные публикации, гранты и финансирование по всему миру, выявляет новые технологии и области их применения </a:t>
            </a:r>
            <a:r>
              <a:rPr lang="ru-RU" dirty="0">
                <a:solidFill>
                  <a:schemeClr val="tx1"/>
                </a:solidFill>
              </a:rPr>
              <a:t>и помогает заметить перспективные направления до их выхода на массовый рынок.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sz="2500" b="1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JaJaBinx</a:t>
            </a:r>
            <a:endParaRPr lang="ru-RU" sz="25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20954" y="1482788"/>
            <a:ext cx="11137439" cy="113341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–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выпускники МГУ</a:t>
            </a:r>
            <a:r>
              <a:rPr lang="ru-RU" dirty="0">
                <a:solidFill>
                  <a:schemeClr val="tx1"/>
                </a:solidFill>
              </a:rPr>
              <a:t>, друзья которые решили проверить, что будет, если объединить дружбу, азарт и любовь к сложным задачам. У нас за </a:t>
            </a:r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плечами победы и призовые места </a:t>
            </a:r>
            <a:r>
              <a:rPr lang="ru-RU" dirty="0">
                <a:solidFill>
                  <a:schemeClr val="tx1"/>
                </a:solidFill>
              </a:rPr>
              <a:t>на крупнейших </a:t>
            </a:r>
            <a:r>
              <a:rPr lang="ru-RU" dirty="0" err="1">
                <a:solidFill>
                  <a:schemeClr val="tx1"/>
                </a:solidFill>
              </a:rPr>
              <a:t>хакатонах</a:t>
            </a:r>
            <a:r>
              <a:rPr lang="ru-RU" dirty="0">
                <a:solidFill>
                  <a:schemeClr val="tx1"/>
                </a:solidFill>
              </a:rPr>
              <a:t> России, а в этом году мы стали лауреатами премии </a:t>
            </a:r>
            <a:r>
              <a:rPr lang="ru-RU" dirty="0" err="1">
                <a:solidFill>
                  <a:schemeClr val="tx1"/>
                </a:solidFill>
              </a:rPr>
              <a:t>Хакатоны</a:t>
            </a:r>
            <a:r>
              <a:rPr lang="ru-RU" dirty="0">
                <a:solidFill>
                  <a:schemeClr val="tx1"/>
                </a:solidFill>
              </a:rPr>
              <a:t> России в номинации </a:t>
            </a:r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«Лучшая команда 2025»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</a:rPr>
              <a:t> (3 место).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01106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879900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solidFill>
                  <a:schemeClr val="tx1"/>
                </a:solidFill>
              </a:rPr>
              <a:t>Хакатон</a:t>
            </a:r>
            <a:r>
              <a:rPr lang="ru-RU" dirty="0">
                <a:solidFill>
                  <a:schemeClr val="tx1"/>
                </a:solidFill>
              </a:rPr>
              <a:t> выпал на дни, когда на нас свалилось всё: дедлайны по работе и подработкам, приезд родителей, рождение сына у подруги, плановые визиты к врачам и даже защита кандидатской диссертации нашим общим другом. «Время было бесценным ресурсом обсуждали задачу даже на банкете после его успешной защиты.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Но </a:t>
            </a:r>
            <a:r>
              <a:rPr lang="ru-RU" b="1" dirty="0">
                <a:solidFill>
                  <a:schemeClr val="tx1"/>
                </a:solidFill>
              </a:rPr>
              <a:t>не вопреки обстоятельствам, а благодаря им </a:t>
            </a:r>
            <a:r>
              <a:rPr lang="ru-RU" dirty="0">
                <a:solidFill>
                  <a:schemeClr val="tx1"/>
                </a:solidFill>
              </a:rPr>
              <a:t>мы успешно выполнили подготовили наше решение.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9201430" cy="3491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08703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B4B923-B514-4A41-7312-B3F0BD692295}"/>
              </a:ext>
            </a:extLst>
          </p:cNvPr>
          <p:cNvSpPr txBox="1"/>
          <p:nvPr/>
        </p:nvSpPr>
        <p:spPr>
          <a:xfrm>
            <a:off x="507849" y="3447757"/>
            <a:ext cx="11034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Выбранная задача </a:t>
            </a:r>
            <a:r>
              <a:rPr lang="ru-RU" sz="1400" b="1" dirty="0"/>
              <a:t>коррелирует с нашим научным бэкграундом</a:t>
            </a:r>
            <a:r>
              <a:rPr lang="ru-RU" sz="1400" dirty="0"/>
              <a:t>, поэтому увидев её мы сразу поняли – это возможность применить наши знания на практике!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812CD9C-DDB4-3CE4-1736-615961426464}"/>
              </a:ext>
            </a:extLst>
          </p:cNvPr>
          <p:cNvCxnSpPr/>
          <p:nvPr/>
        </p:nvCxnSpPr>
        <p:spPr>
          <a:xfrm>
            <a:off x="346075" y="1201106"/>
            <a:ext cx="0" cy="11117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22AC8F7-6410-6042-6493-61B7AEB832E3}"/>
              </a:ext>
            </a:extLst>
          </p:cNvPr>
          <p:cNvCxnSpPr/>
          <p:nvPr/>
        </p:nvCxnSpPr>
        <p:spPr>
          <a:xfrm>
            <a:off x="360456" y="2936604"/>
            <a:ext cx="0" cy="11117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ED888F3-283E-0154-C234-9614E3802216}"/>
              </a:ext>
            </a:extLst>
          </p:cNvPr>
          <p:cNvCxnSpPr/>
          <p:nvPr/>
        </p:nvCxnSpPr>
        <p:spPr>
          <a:xfrm>
            <a:off x="360456" y="4644635"/>
            <a:ext cx="0" cy="11117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Google Shape;169;p21">
            <a:extLst>
              <a:ext uri="{FF2B5EF4-FFF2-40B4-BE49-F238E27FC236}">
                <a16:creationId xmlns:a16="http://schemas.microsoft.com/office/drawing/2014/main" id="{F29E9F56-0B0D-0A3E-8464-921D8533ACE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prstClr val="black"/>
              <a:srgbClr val="5101D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13652" y="2184853"/>
            <a:ext cx="1146396" cy="1133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Пользователь</a:t>
            </a:r>
            <a:r>
              <a:rPr lang="ru-RU" sz="1500" dirty="0">
                <a:solidFill>
                  <a:srgbClr val="000000"/>
                </a:solidFill>
              </a:rPr>
              <a:t> задаёт тему и при желании уточняет её в чате. 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ru-RU" sz="1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Радар</a:t>
            </a:r>
            <a:r>
              <a:rPr lang="ru-RU" sz="1500" dirty="0">
                <a:solidFill>
                  <a:srgbClr val="000000"/>
                </a:solidFill>
              </a:rPr>
              <a:t> формирует поисковые запросы, собирает документы из научных и других открытых источников, нормализует </a:t>
            </a:r>
            <a:br>
              <a:rPr lang="ru-RU" sz="1500" dirty="0">
                <a:solidFill>
                  <a:srgbClr val="000000"/>
                </a:solidFill>
              </a:rPr>
            </a:br>
            <a:r>
              <a:rPr lang="ru-RU" sz="1500" dirty="0">
                <a:solidFill>
                  <a:srgbClr val="000000"/>
                </a:solidFill>
              </a:rPr>
              <a:t>их и удаляет дубли. </a:t>
            </a:r>
            <a:endParaRPr lang="en-US" sz="1500" dirty="0">
              <a:solidFill>
                <a:srgbClr val="000000"/>
              </a:solidFill>
            </a:endParaRPr>
          </a:p>
          <a:p>
            <a:r>
              <a:rPr lang="en" sz="1500" b="1" dirty="0">
                <a:solidFill>
                  <a:schemeClr val="accent6">
                    <a:lumMod val="90000"/>
                    <a:lumOff val="10000"/>
                  </a:schemeClr>
                </a:solidFill>
              </a:rPr>
              <a:t>LLM</a:t>
            </a:r>
            <a:r>
              <a:rPr lang="en" sz="1500" dirty="0">
                <a:solidFill>
                  <a:srgbClr val="000000"/>
                </a:solidFill>
              </a:rPr>
              <a:t> </a:t>
            </a:r>
            <a:r>
              <a:rPr lang="ru-RU" sz="1500" dirty="0">
                <a:solidFill>
                  <a:srgbClr val="000000"/>
                </a:solidFill>
              </a:rPr>
              <a:t>выделяет технологии-кандидаты и проверяет доказательства; для кандидатов рассчитываются признаки, а логистическая регрессия оценивает вероятность сигнала. </a:t>
            </a:r>
            <a:endParaRPr lang="en-US" sz="1500" dirty="0">
              <a:solidFill>
                <a:srgbClr val="000000"/>
              </a:solidFill>
            </a:endParaRPr>
          </a:p>
          <a:p>
            <a:pPr algn="just"/>
            <a:endParaRPr lang="en-US" sz="15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ru-RU" sz="1500" dirty="0">
                <a:solidFill>
                  <a:srgbClr val="000000"/>
                </a:solidFill>
              </a:rPr>
              <a:t>Итоговый список ранжируется с учётом </a:t>
            </a:r>
            <a:r>
              <a:rPr lang="ru-RU" sz="1500" dirty="0" err="1">
                <a:solidFill>
                  <a:srgbClr val="000000"/>
                </a:solidFill>
              </a:rPr>
              <a:t>проверяемости</a:t>
            </a:r>
            <a:r>
              <a:rPr lang="ru-RU" sz="1500" dirty="0">
                <a:solidFill>
                  <a:srgbClr val="000000"/>
                </a:solidFill>
              </a:rPr>
              <a:t> цитат и доверия к источникам и сопровождается объяснением оценки.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6"/>
            <a:ext cx="4957144" cy="4279849"/>
          </a:xfrm>
        </p:spPr>
        <p:txBody>
          <a:bodyPr>
            <a:normAutofit/>
          </a:bodyPr>
          <a:lstStyle/>
          <a:p>
            <a:r>
              <a:rPr lang="en" sz="1500" dirty="0">
                <a:solidFill>
                  <a:srgbClr val="000000"/>
                </a:solidFill>
                <a:effectLst/>
              </a:rPr>
              <a:t>IDEA Radar </a:t>
            </a:r>
            <a:r>
              <a:rPr lang="ru-RU" sz="1500" dirty="0">
                <a:solidFill>
                  <a:srgbClr val="000000"/>
                </a:solidFill>
                <a:effectLst/>
              </a:rPr>
              <a:t>помогает компаниям и исследовательским командам </a:t>
            </a:r>
            <a:r>
              <a:rPr lang="ru-RU" sz="1500" b="1" dirty="0">
                <a:solidFill>
                  <a:schemeClr val="accent6">
                    <a:lumMod val="90000"/>
                    <a:lumOff val="10000"/>
                  </a:schemeClr>
                </a:solidFill>
                <a:effectLst/>
              </a:rPr>
              <a:t>замечать перспективные технологии до того, как они станут массовым трендом. </a:t>
            </a:r>
            <a:endParaRPr lang="en-US" sz="1500" b="1" dirty="0">
              <a:solidFill>
                <a:schemeClr val="accent6">
                  <a:lumMod val="90000"/>
                  <a:lumOff val="10000"/>
                </a:schemeClr>
              </a:solidFill>
              <a:effectLst/>
            </a:endParaRPr>
          </a:p>
          <a:p>
            <a:r>
              <a:rPr lang="en" sz="1500" dirty="0">
                <a:solidFill>
                  <a:srgbClr val="000000"/>
                </a:solidFill>
                <a:effectLst/>
              </a:rPr>
              <a:t>IDEA Radar</a:t>
            </a:r>
            <a:r>
              <a:rPr lang="ru-RU" sz="1500" dirty="0">
                <a:solidFill>
                  <a:srgbClr val="000000"/>
                </a:solidFill>
                <a:effectLst/>
              </a:rPr>
              <a:t> собирает сигналы из научных публикаций, данных о грантах, патентов, отраслевых материалов и новостей, а затем выделяет и ранжирует перспективные направления.</a:t>
            </a:r>
          </a:p>
          <a:p>
            <a:r>
              <a:rPr lang="en" sz="1500" dirty="0">
                <a:solidFill>
                  <a:srgbClr val="000000"/>
                </a:solidFill>
                <a:effectLst/>
              </a:rPr>
              <a:t>IDEA Radar</a:t>
            </a:r>
            <a:r>
              <a:rPr lang="ru-RU" sz="1500" dirty="0">
                <a:solidFill>
                  <a:srgbClr val="000000"/>
                </a:solidFill>
                <a:effectLst/>
              </a:rPr>
              <a:t> можно применять в подразделениях НИОКР, стратегического развития и корпоративных инноваций, </a:t>
            </a:r>
            <a:br>
              <a:rPr lang="ru-RU" sz="1500" dirty="0">
                <a:solidFill>
                  <a:srgbClr val="000000"/>
                </a:solidFill>
                <a:effectLst/>
              </a:rPr>
            </a:br>
            <a:r>
              <a:rPr lang="ru-RU" sz="1500" dirty="0">
                <a:solidFill>
                  <a:srgbClr val="000000"/>
                </a:solidFill>
                <a:effectLst/>
              </a:rPr>
              <a:t>а также в фондах и институтах развития. </a:t>
            </a:r>
            <a:endParaRPr lang="en-US" sz="1500" dirty="0">
              <a:solidFill>
                <a:srgbClr val="000000"/>
              </a:solidFill>
              <a:effectLst/>
            </a:endParaRPr>
          </a:p>
          <a:p>
            <a:endParaRPr lang="en-US" sz="1500" dirty="0">
              <a:solidFill>
                <a:srgbClr val="000000"/>
              </a:solidFill>
              <a:effectLst/>
            </a:endParaRPr>
          </a:p>
          <a:p>
            <a:pPr marL="0" indent="0" algn="ctr">
              <a:buNone/>
            </a:pPr>
            <a:r>
              <a:rPr lang="ru-RU" sz="1500" dirty="0">
                <a:solidFill>
                  <a:srgbClr val="000000"/>
                </a:solidFill>
                <a:effectLst/>
              </a:rPr>
              <a:t>Дальше </a:t>
            </a:r>
            <a:r>
              <a:rPr lang="en" sz="1500" dirty="0">
                <a:solidFill>
                  <a:srgbClr val="000000"/>
                </a:solidFill>
                <a:effectLst/>
              </a:rPr>
              <a:t>IDEA Radar</a:t>
            </a:r>
            <a:r>
              <a:rPr lang="ru-RU" sz="1500" dirty="0">
                <a:solidFill>
                  <a:srgbClr val="000000"/>
                </a:solidFill>
                <a:effectLst/>
              </a:rPr>
              <a:t> можно развивать через отраслевые радары, экспертную обратную связь и интеграции с внутренними системами компаний.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652121"/>
            <a:ext cx="3560515" cy="180867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384723" y="1347850"/>
            <a:ext cx="5214724" cy="561519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C3BE3E-D474-3BBF-3022-C025F7175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459" y="832988"/>
            <a:ext cx="812768" cy="8127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E59525-CB1E-9D89-9775-9E27C243B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273" y="806353"/>
            <a:ext cx="812768" cy="812768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6721049B-09F7-A9B6-0169-794232B37200}"/>
              </a:ext>
            </a:extLst>
          </p:cNvPr>
          <p:cNvCxnSpPr>
            <a:cxnSpLocks/>
          </p:cNvCxnSpPr>
          <p:nvPr/>
        </p:nvCxnSpPr>
        <p:spPr>
          <a:xfrm>
            <a:off x="859688" y="4387966"/>
            <a:ext cx="428877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B2A4FDE-686D-B2A8-0673-02800738BE3F}"/>
              </a:ext>
            </a:extLst>
          </p:cNvPr>
          <p:cNvCxnSpPr>
            <a:cxnSpLocks/>
          </p:cNvCxnSpPr>
          <p:nvPr/>
        </p:nvCxnSpPr>
        <p:spPr>
          <a:xfrm>
            <a:off x="6775502" y="5013761"/>
            <a:ext cx="428877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DE4AFD-D5C4-3D16-6E43-897DA1DE46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74" y="4887156"/>
            <a:ext cx="1290807" cy="12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21F72FD-D30E-17E6-A888-1898842B8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4167" r="97833">
                        <a14:foregroundMark x1="29833" y1="36667" x2="20500" y2="36833"/>
                        <a14:foregroundMark x1="20500" y1="36833" x2="11500" y2="34167"/>
                        <a14:foregroundMark x1="11500" y1="34167" x2="18000" y2="41500"/>
                        <a14:foregroundMark x1="18000" y1="41500" x2="7000" y2="48500"/>
                        <a14:foregroundMark x1="7000" y1="48500" x2="7333" y2="58500"/>
                        <a14:foregroundMark x1="7333" y1="58500" x2="10500" y2="66333"/>
                        <a14:foregroundMark x1="10500" y1="66333" x2="10500" y2="66167"/>
                        <a14:foregroundMark x1="91735" y1="47872" x2="92500" y2="46833"/>
                        <a14:foregroundMark x1="80833" y1="62667" x2="91734" y2="47873"/>
                        <a14:foregroundMark x1="92500" y1="46833" x2="94167" y2="40000"/>
                        <a14:foregroundMark x1="93678" y1="38165" x2="92167" y2="32500"/>
                        <a14:foregroundMark x1="94167" y1="40000" x2="93682" y2="38183"/>
                        <a14:foregroundMark x1="92167" y1="32500" x2="91833" y2="33667"/>
                        <a14:foregroundMark x1="18667" y1="30333" x2="24000" y2="41667"/>
                        <a14:foregroundMark x1="24000" y1="41667" x2="18000" y2="32833"/>
                        <a14:foregroundMark x1="18000" y1="32833" x2="24167" y2="36833"/>
                        <a14:foregroundMark x1="24167" y1="36833" x2="17167" y2="31833"/>
                        <a14:foregroundMark x1="17167" y1="31833" x2="23000" y2="36333"/>
                        <a14:foregroundMark x1="23000" y1="36333" x2="15000" y2="30833"/>
                        <a14:foregroundMark x1="27500" y1="40500" x2="27000" y2="41833"/>
                        <a14:foregroundMark x1="1291" y1="48201" x2="1500" y2="50500"/>
                        <a14:foregroundMark x1="667" y1="41333" x2="895" y2="43846"/>
                        <a14:foregroundMark x1="1360" y1="43656" x2="1333" y2="42333"/>
                        <a14:foregroundMark x1="1500" y1="50500" x2="1452" y2="48135"/>
                        <a14:foregroundMark x1="1497" y1="48117" x2="1654" y2="53656"/>
                        <a14:foregroundMark x1="1333" y1="42333" x2="1370" y2="43651"/>
                        <a14:foregroundMark x1="3059" y1="63514" x2="4333" y2="67167"/>
                        <a14:foregroundMark x1="4333" y1="67167" x2="4500" y2="67167"/>
                        <a14:foregroundMark x1="95500" y1="39000" x2="96000" y2="46333"/>
                        <a14:foregroundMark x1="96000" y1="46333" x2="97833" y2="39500"/>
                        <a14:foregroundMark x1="97833" y1="39500" x2="97500" y2="39500"/>
                        <a14:backgroundMark x1="1333" y1="43667" x2="3000" y2="47500"/>
                        <a14:backgroundMark x1="1167" y1="53667" x2="1333" y2="60833"/>
                        <a14:backgroundMark x1="1333" y1="60833" x2="1833" y2="53500"/>
                        <a14:backgroundMark x1="1833" y1="53500" x2="3167" y2="63500"/>
                        <a14:backgroundMark x1="833" y1="42667" x2="1667" y2="41833"/>
                        <a14:backgroundMark x1="94667" y1="35333" x2="95000" y2="34167"/>
                        <a14:backgroundMark x1="93333" y1="52500" x2="92667" y2="50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816730">
            <a:off x="9657115" y="3840427"/>
            <a:ext cx="2872372" cy="287237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C00C1E2-5AC2-8E88-0134-471E96442F3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29"/>
            <a:ext cx="6116728" cy="6858000"/>
          </a:xfrm>
          <a:prstGeom prst="rect">
            <a:avLst/>
          </a:prstGeom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rPr>
              <a:t>Охват поиска</a:t>
            </a:r>
          </a:p>
        </p:txBody>
      </p:sp>
      <p:sp>
        <p:nvSpPr>
          <p:cNvPr id="28" name="Номер слайда 17">
            <a:extLst>
              <a:ext uri="{FF2B5EF4-FFF2-40B4-BE49-F238E27FC236}">
                <a16:creationId xmlns:a16="http://schemas.microsoft.com/office/drawing/2014/main" id="{923421C7-BE8C-E968-7CF4-F7CBD55CF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4868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9AE3E2-1E66-452B-5AF7-41E0FBE58C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255" y="1087532"/>
            <a:ext cx="9212945" cy="51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23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6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099F5842-1303-99BA-D26B-6F80AA182B09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Human in the loop</a:t>
            </a:r>
            <a:endParaRPr lang="ru-RU" sz="2500" b="1" dirty="0">
              <a:solidFill>
                <a:schemeClr val="bg1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B1F08A4-5042-C407-165C-6FC25B34C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1" y="1072692"/>
            <a:ext cx="10475967" cy="226769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6898E2E-D489-5FF5-F822-B6028CCBE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61" y="3341537"/>
            <a:ext cx="10475967" cy="337994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10EA81A-4EBB-66D8-A70C-8F0DBEAFE8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548" y="3054703"/>
            <a:ext cx="4213758" cy="1405880"/>
          </a:xfrm>
          <a:prstGeom prst="rect">
            <a:avLst/>
          </a:prstGeom>
          <a:ln w="28575">
            <a:solidFill>
              <a:srgbClr val="121195"/>
            </a:solidFill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A21FCD4-B336-B249-D14F-A6F57AB032F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432" y="3429000"/>
            <a:ext cx="2952022" cy="18785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DA6A5E8B-B15F-D12D-B331-8D3638E9110C}"/>
                  </a:ext>
                </a:extLst>
              </p14:cNvPr>
              <p14:cNvContentPartPr/>
              <p14:nvPr/>
            </p14:nvContentPartPr>
            <p14:xfrm>
              <a:off x="2047459" y="3036159"/>
              <a:ext cx="1313280" cy="55944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DA6A5E8B-B15F-D12D-B331-8D3638E9110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9819" y="3018159"/>
                <a:ext cx="1348920" cy="59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635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98BEE4-1EB1-DC59-BFF1-AD14226402F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4" y="324562"/>
            <a:ext cx="490724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Интерпретируемость</a:t>
            </a:r>
          </a:p>
        </p:txBody>
      </p:sp>
      <p:sp>
        <p:nvSpPr>
          <p:cNvPr id="4" name="Номер слайда 17">
            <a:extLst>
              <a:ext uri="{FF2B5EF4-FFF2-40B4-BE49-F238E27FC236}">
                <a16:creationId xmlns:a16="http://schemas.microsoft.com/office/drawing/2014/main" id="{EF143CA4-60D5-FB93-CA47-99421647F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7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73C543-B5C2-EA79-44B2-A764425F0A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37" y="316325"/>
            <a:ext cx="11058526" cy="621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9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6EBB33E-35B6-276E-E65C-3F5410A8FD9B}"/>
              </a:ext>
            </a:extLst>
          </p:cNvPr>
          <p:cNvSpPr/>
          <p:nvPr/>
        </p:nvSpPr>
        <p:spPr>
          <a:xfrm>
            <a:off x="-1" y="2151530"/>
            <a:ext cx="12192001" cy="23039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Реестр источников</a:t>
            </a:r>
          </a:p>
        </p:txBody>
      </p:sp>
      <p:sp>
        <p:nvSpPr>
          <p:cNvPr id="16" name="Номер слайда 17">
            <a:extLst>
              <a:ext uri="{FF2B5EF4-FFF2-40B4-BE49-F238E27FC236}">
                <a16:creationId xmlns:a16="http://schemas.microsoft.com/office/drawing/2014/main" id="{5662F4AE-9AD8-E01C-6C02-1D77D9071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3950CD-11AB-2F8B-E186-5FFB69E49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292" y="945481"/>
            <a:ext cx="9335413" cy="52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2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7D35F2-791A-1068-8284-7BDF6AEF4E3F}"/>
              </a:ext>
            </a:extLst>
          </p:cNvPr>
          <p:cNvSpPr/>
          <p:nvPr/>
        </p:nvSpPr>
        <p:spPr>
          <a:xfrm>
            <a:off x="1932040" y="5372916"/>
            <a:ext cx="10259960" cy="279698"/>
          </a:xfrm>
          <a:prstGeom prst="rect">
            <a:avLst/>
          </a:prstGeom>
          <a:solidFill>
            <a:schemeClr val="accent6">
              <a:lumMod val="50000"/>
              <a:lumOff val="50000"/>
            </a:schemeClr>
          </a:solidFill>
          <a:ln>
            <a:solidFill>
              <a:schemeClr val="accent4">
                <a:lumMod val="40000"/>
                <a:lumOff val="60000"/>
                <a:alpha val="36282"/>
              </a:schemeClr>
            </a:solidFill>
          </a:ln>
          <a:effectLst>
            <a:glow>
              <a:schemeClr val="accent1"/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6EBB33E-35B6-276E-E65C-3F5410A8FD9B}"/>
              </a:ext>
            </a:extLst>
          </p:cNvPr>
          <p:cNvSpPr/>
          <p:nvPr/>
        </p:nvSpPr>
        <p:spPr>
          <a:xfrm>
            <a:off x="1932040" y="945481"/>
            <a:ext cx="9202992" cy="55879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593867-8FE7-E459-50CC-2C7B175D8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426" y="945481"/>
            <a:ext cx="3251200" cy="3251200"/>
          </a:xfrm>
          <a:prstGeom prst="rect">
            <a:avLst/>
          </a:prstGeom>
        </p:spPr>
      </p:pic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Машина времени</a:t>
            </a:r>
          </a:p>
        </p:txBody>
      </p:sp>
      <p:sp>
        <p:nvSpPr>
          <p:cNvPr id="16" name="Номер слайда 17">
            <a:extLst>
              <a:ext uri="{FF2B5EF4-FFF2-40B4-BE49-F238E27FC236}">
                <a16:creationId xmlns:a16="http://schemas.microsoft.com/office/drawing/2014/main" id="{5662F4AE-9AD8-E01C-6C02-1D77D9071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9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760E5F-802A-8C2A-D3D0-5818A92310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14" y="1048341"/>
            <a:ext cx="8144523" cy="45843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AEB0DF99-59BA-62D5-9DA0-B1A99C954D0C}"/>
                  </a:ext>
                </a:extLst>
              </p14:cNvPr>
              <p14:cNvContentPartPr/>
              <p14:nvPr/>
            </p14:nvContentPartPr>
            <p14:xfrm>
              <a:off x="4111699" y="666639"/>
              <a:ext cx="4658400" cy="104040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AEB0DF99-59BA-62D5-9DA0-B1A99C954D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8699" y="288999"/>
                <a:ext cx="4784040" cy="179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4513803-A1C3-BB24-88C1-EFCA0121A75F}"/>
              </a:ext>
            </a:extLst>
          </p:cNvPr>
          <p:cNvGrpSpPr/>
          <p:nvPr/>
        </p:nvGrpSpPr>
        <p:grpSpPr>
          <a:xfrm>
            <a:off x="4966339" y="4269159"/>
            <a:ext cx="5492520" cy="1725840"/>
            <a:chOff x="4966339" y="4269159"/>
            <a:chExt cx="5492520" cy="1725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DE806514-9A80-BDC9-2A03-4EC7EFC12AF6}"/>
                    </a:ext>
                  </a:extLst>
                </p14:cNvPr>
                <p14:cNvContentPartPr/>
                <p14:nvPr/>
              </p14:nvContentPartPr>
              <p14:xfrm>
                <a:off x="4966339" y="4269159"/>
                <a:ext cx="5492520" cy="172584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DE806514-9A80-BDC9-2A03-4EC7EFC12A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03339" y="3891519"/>
                  <a:ext cx="5618160" cy="24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9E860D51-1E6B-5A84-41A5-71F985AFCB3B}"/>
                    </a:ext>
                  </a:extLst>
                </p14:cNvPr>
                <p14:cNvContentPartPr/>
                <p14:nvPr/>
              </p14:nvContentPartPr>
              <p14:xfrm>
                <a:off x="5158219" y="5119119"/>
                <a:ext cx="258120" cy="516960"/>
              </p14:xfrm>
            </p:contentPart>
          </mc:Choice>
          <mc:Fallback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9E860D51-1E6B-5A84-41A5-71F985AFCB3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95579" y="4741479"/>
                  <a:ext cx="383760" cy="127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CA3B643-D398-0391-BD7D-B0C51BD41459}"/>
              </a:ext>
            </a:extLst>
          </p:cNvPr>
          <p:cNvSpPr txBox="1"/>
          <p:nvPr/>
        </p:nvSpPr>
        <p:spPr>
          <a:xfrm>
            <a:off x="724518" y="5271050"/>
            <a:ext cx="3785011" cy="107721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* </a:t>
            </a:r>
            <a:r>
              <a:rPr lang="ru-RU" sz="1600" dirty="0"/>
              <a:t>«Машина времени» позволяет </a:t>
            </a:r>
            <a:br>
              <a:rPr lang="ru-RU" sz="1600" dirty="0"/>
            </a:br>
            <a:r>
              <a:rPr lang="ru-RU" sz="1600" dirty="0"/>
              <a:t>искать данные за определенный </a:t>
            </a:r>
            <a:br>
              <a:rPr lang="ru-RU" sz="1600" dirty="0"/>
            </a:br>
            <a:r>
              <a:rPr lang="ru-RU" sz="1600" dirty="0"/>
              <a:t>временной период в прошлом </a:t>
            </a:r>
            <a:br>
              <a:rPr lang="en-US" sz="1600" dirty="0"/>
            </a:br>
            <a:r>
              <a:rPr lang="ru-RU" sz="1600" dirty="0"/>
              <a:t>с гарантированным </a:t>
            </a:r>
            <a:r>
              <a:rPr lang="en-US" sz="1600" dirty="0"/>
              <a:t>ground truth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00304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FF2E595-E388-F551-9635-4CB529836A8B}"/>
              </a:ext>
            </a:extLst>
          </p:cNvPr>
          <p:cNvCxnSpPr>
            <a:cxnSpLocks/>
          </p:cNvCxnSpPr>
          <p:nvPr/>
        </p:nvCxnSpPr>
        <p:spPr>
          <a:xfrm>
            <a:off x="1114422" y="0"/>
            <a:ext cx="0" cy="6857999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5DDA473-AD4B-CEA1-5087-9CC649D00D6B}"/>
              </a:ext>
            </a:extLst>
          </p:cNvPr>
          <p:cNvSpPr/>
          <p:nvPr/>
        </p:nvSpPr>
        <p:spPr>
          <a:xfrm>
            <a:off x="-1" y="4554071"/>
            <a:ext cx="10416989" cy="23039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3F20B89-42DE-5804-0D50-B726BAB147FB}"/>
              </a:ext>
            </a:extLst>
          </p:cNvPr>
          <p:cNvCxnSpPr>
            <a:cxnSpLocks/>
          </p:cNvCxnSpPr>
          <p:nvPr/>
        </p:nvCxnSpPr>
        <p:spPr>
          <a:xfrm>
            <a:off x="0" y="1129552"/>
            <a:ext cx="2860227" cy="5728448"/>
          </a:xfrm>
          <a:prstGeom prst="line">
            <a:avLst/>
          </a:prstGeom>
          <a:ln w="3810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6F4070D-2717-EF5A-C868-33A83CA4A7D4}"/>
              </a:ext>
            </a:extLst>
          </p:cNvPr>
          <p:cNvCxnSpPr>
            <a:cxnSpLocks/>
          </p:cNvCxnSpPr>
          <p:nvPr/>
        </p:nvCxnSpPr>
        <p:spPr>
          <a:xfrm>
            <a:off x="977638" y="1"/>
            <a:ext cx="0" cy="6857999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4" y="324562"/>
            <a:ext cx="4225925" cy="769133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500" b="1" dirty="0">
                <a:solidFill>
                  <a:schemeClr val="bg1"/>
                </a:solidFill>
              </a:rPr>
              <a:t>Масштабируемость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1777D-C4A5-0B25-A52C-1CD93BFB0C66}"/>
              </a:ext>
            </a:extLst>
          </p:cNvPr>
          <p:cNvSpPr txBox="1"/>
          <p:nvPr/>
        </p:nvSpPr>
        <p:spPr>
          <a:xfrm>
            <a:off x="2965074" y="1275585"/>
            <a:ext cx="626184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500" b="1" dirty="0" err="1">
                <a:solidFill>
                  <a:srgbClr val="7030A0"/>
                </a:solidFill>
                <a:effectLst/>
                <a:latin typeface="Helvetica Neue" panose="02000503000000020004" pitchFamily="2" charset="0"/>
              </a:rPr>
              <a:t>Микросервисная</a:t>
            </a:r>
            <a:r>
              <a:rPr lang="ru-RU" sz="2500" b="1" dirty="0">
                <a:solidFill>
                  <a:srgbClr val="7030A0"/>
                </a:solidFill>
                <a:effectLst/>
                <a:latin typeface="Helvetica Neue" panose="02000503000000020004" pitchFamily="2" charset="0"/>
              </a:rPr>
              <a:t> архитектура</a:t>
            </a:r>
          </a:p>
        </p:txBody>
      </p:sp>
      <p:sp>
        <p:nvSpPr>
          <p:cNvPr id="4" name="Номер слайда 17">
            <a:extLst>
              <a:ext uri="{FF2B5EF4-FFF2-40B4-BE49-F238E27FC236}">
                <a16:creationId xmlns:a16="http://schemas.microsoft.com/office/drawing/2014/main" id="{A54434A5-34BA-3054-59F5-FB33EC62F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003D86C-27B9-2E24-79F2-73B0C4F071A6}"/>
              </a:ext>
            </a:extLst>
          </p:cNvPr>
          <p:cNvCxnSpPr>
            <a:cxnSpLocks/>
          </p:cNvCxnSpPr>
          <p:nvPr/>
        </p:nvCxnSpPr>
        <p:spPr>
          <a:xfrm>
            <a:off x="0" y="627910"/>
            <a:ext cx="3173506" cy="6230089"/>
          </a:xfrm>
          <a:prstGeom prst="line">
            <a:avLst/>
          </a:prstGeom>
          <a:ln w="38100">
            <a:solidFill>
              <a:schemeClr val="accent6">
                <a:lumMod val="25000"/>
                <a:lumOff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F2D10ACC-FA1E-E13A-7760-1D692B9FFD09}"/>
              </a:ext>
            </a:extLst>
          </p:cNvPr>
          <p:cNvCxnSpPr>
            <a:cxnSpLocks/>
          </p:cNvCxnSpPr>
          <p:nvPr/>
        </p:nvCxnSpPr>
        <p:spPr>
          <a:xfrm>
            <a:off x="663873" y="1"/>
            <a:ext cx="0" cy="6857999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3B61DA7E-4247-C4F6-DC09-27F657708BA8}"/>
              </a:ext>
            </a:extLst>
          </p:cNvPr>
          <p:cNvCxnSpPr>
            <a:cxnSpLocks/>
          </p:cNvCxnSpPr>
          <p:nvPr/>
        </p:nvCxnSpPr>
        <p:spPr>
          <a:xfrm>
            <a:off x="0" y="4285129"/>
            <a:ext cx="1430113" cy="2572871"/>
          </a:xfrm>
          <a:prstGeom prst="line">
            <a:avLst/>
          </a:prstGeom>
          <a:ln w="38100">
            <a:solidFill>
              <a:schemeClr val="accent6">
                <a:lumMod val="50000"/>
                <a:lumOff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B75A320-2E29-8F4D-FC6C-258FF5BEB7BB}"/>
              </a:ext>
            </a:extLst>
          </p:cNvPr>
          <p:cNvCxnSpPr>
            <a:cxnSpLocks/>
          </p:cNvCxnSpPr>
          <p:nvPr/>
        </p:nvCxnSpPr>
        <p:spPr>
          <a:xfrm>
            <a:off x="11084" y="3783487"/>
            <a:ext cx="1817716" cy="3074513"/>
          </a:xfrm>
          <a:prstGeom prst="line">
            <a:avLst/>
          </a:prstGeom>
          <a:ln w="38100">
            <a:solidFill>
              <a:schemeClr val="accent6">
                <a:lumMod val="50000"/>
                <a:lumOff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535879-2A29-1EC2-9DD5-4E9301B96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034" y="1224491"/>
            <a:ext cx="9650213" cy="542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4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6987FC-468A-09B7-AB50-23A0791819CB}"/>
              </a:ext>
            </a:extLst>
          </p:cNvPr>
          <p:cNvSpPr/>
          <p:nvPr/>
        </p:nvSpPr>
        <p:spPr>
          <a:xfrm>
            <a:off x="4868322" y="0"/>
            <a:ext cx="2048672" cy="6858000"/>
          </a:xfrm>
          <a:prstGeom prst="rect">
            <a:avLst/>
          </a:prstGeom>
          <a:solidFill>
            <a:schemeClr val="accent6">
              <a:lumMod val="25000"/>
              <a:lumOff val="7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DF86C3-7EEE-C30F-97E2-542F2D56C7C0}"/>
              </a:ext>
            </a:extLst>
          </p:cNvPr>
          <p:cNvSpPr/>
          <p:nvPr/>
        </p:nvSpPr>
        <p:spPr>
          <a:xfrm>
            <a:off x="-1" y="2456328"/>
            <a:ext cx="7404847" cy="44016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82295FA-3BFB-CA83-7E28-8FA6F7488F25}"/>
              </a:ext>
            </a:extLst>
          </p:cNvPr>
          <p:cNvCxnSpPr>
            <a:cxnSpLocks/>
          </p:cNvCxnSpPr>
          <p:nvPr/>
        </p:nvCxnSpPr>
        <p:spPr>
          <a:xfrm>
            <a:off x="4742815" y="1"/>
            <a:ext cx="0" cy="6857999"/>
          </a:xfrm>
          <a:prstGeom prst="line">
            <a:avLst/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ETL</a:t>
            </a:r>
            <a:r>
              <a:rPr lang="ru-RU" sz="2500" b="1" dirty="0">
                <a:solidFill>
                  <a:schemeClr val="bg1"/>
                </a:solidFill>
              </a:rPr>
              <a:t> </a:t>
            </a:r>
            <a:r>
              <a:rPr lang="ru-RU" sz="2500" b="1" dirty="0" err="1">
                <a:solidFill>
                  <a:schemeClr val="bg1"/>
                </a:solidFill>
              </a:rPr>
              <a:t>пайплайн</a:t>
            </a:r>
            <a:endParaRPr lang="ru-RU" sz="2500" b="1" dirty="0">
              <a:solidFill>
                <a:schemeClr val="bg1"/>
              </a:solidFill>
            </a:endParaRPr>
          </a:p>
        </p:txBody>
      </p:sp>
      <p:sp>
        <p:nvSpPr>
          <p:cNvPr id="4" name="Номер слайда 17">
            <a:extLst>
              <a:ext uri="{FF2B5EF4-FFF2-40B4-BE49-F238E27FC236}">
                <a16:creationId xmlns:a16="http://schemas.microsoft.com/office/drawing/2014/main" id="{43BB7BF0-F790-8277-2BCE-AA35A4655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33702DA-B126-81AF-682E-36CEE0FD64FA}"/>
              </a:ext>
            </a:extLst>
          </p:cNvPr>
          <p:cNvSpPr/>
          <p:nvPr/>
        </p:nvSpPr>
        <p:spPr>
          <a:xfrm>
            <a:off x="0" y="5400529"/>
            <a:ext cx="12192000" cy="250545"/>
          </a:xfrm>
          <a:prstGeom prst="rect">
            <a:avLst/>
          </a:prstGeom>
          <a:solidFill>
            <a:schemeClr val="accent6">
              <a:lumMod val="50000"/>
              <a:lumOff val="50000"/>
            </a:schemeClr>
          </a:solidFill>
          <a:ln>
            <a:solidFill>
              <a:schemeClr val="accent4">
                <a:lumMod val="40000"/>
                <a:lumOff val="60000"/>
                <a:alpha val="36282"/>
              </a:schemeClr>
            </a:solidFill>
          </a:ln>
          <a:effectLst>
            <a:glow>
              <a:schemeClr val="accent1"/>
            </a:glow>
          </a:effectLst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CA5F97-E091-A360-F530-C1BF6367BDE7}"/>
              </a:ext>
            </a:extLst>
          </p:cNvPr>
          <p:cNvSpPr/>
          <p:nvPr/>
        </p:nvSpPr>
        <p:spPr>
          <a:xfrm>
            <a:off x="6322646" y="4689231"/>
            <a:ext cx="164123" cy="148492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6D7C8AE-3305-1F28-237B-DDF7E604D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67" y="1249403"/>
            <a:ext cx="11239982" cy="440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8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0C439372-8722-00D2-854C-B589FE3F7724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8F4F8DB-CAE2-FFBD-91A5-A2AEBF735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94" b="16401"/>
          <a:stretch/>
        </p:blipFill>
        <p:spPr>
          <a:xfrm>
            <a:off x="325170" y="1631577"/>
            <a:ext cx="11541659" cy="4386636"/>
          </a:xfrm>
        </p:spPr>
      </p:pic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3600" dirty="0">
                <a:solidFill>
                  <a:schemeClr val="bg1"/>
                </a:solidFill>
              </a:rPr>
              <a:t>СТЭК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AB5FD-2D2F-BF9C-63DC-4B50B55722B3}"/>
              </a:ext>
            </a:extLst>
          </p:cNvPr>
          <p:cNvSpPr txBox="1"/>
          <p:nvPr/>
        </p:nvSpPr>
        <p:spPr>
          <a:xfrm>
            <a:off x="3478571" y="5041757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+mj-lt"/>
              </a:rPr>
              <a:t>Локальное развёртывание: </a:t>
            </a:r>
            <a:r>
              <a:rPr lang="en" b="1" dirty="0">
                <a:solidFill>
                  <a:srgbClr val="000000"/>
                </a:solidFill>
                <a:effectLst/>
                <a:latin typeface="+mj-lt"/>
              </a:rPr>
              <a:t>Qwen3.6-35B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9E2552B-0F12-BDAD-B02D-91E8402838AD}"/>
              </a:ext>
            </a:extLst>
          </p:cNvPr>
          <p:cNvGrpSpPr/>
          <p:nvPr/>
        </p:nvGrpSpPr>
        <p:grpSpPr>
          <a:xfrm>
            <a:off x="3473419" y="4981239"/>
            <a:ext cx="5218560" cy="529920"/>
            <a:chOff x="3473419" y="4981239"/>
            <a:chExt cx="5218560" cy="5299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C6AAF9BE-3D5A-4671-0381-F759D77835F2}"/>
                    </a:ext>
                  </a:extLst>
                </p14:cNvPr>
                <p14:cNvContentPartPr/>
                <p14:nvPr/>
              </p14:nvContentPartPr>
              <p14:xfrm>
                <a:off x="3544699" y="5403159"/>
                <a:ext cx="5147280" cy="7236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C6AAF9BE-3D5A-4671-0381-F759D77835F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81699" y="5025159"/>
                  <a:ext cx="527292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C16DF817-283F-D308-02AE-57FD3AAB5397}"/>
                    </a:ext>
                  </a:extLst>
                </p14:cNvPr>
                <p14:cNvContentPartPr/>
                <p14:nvPr/>
              </p14:nvContentPartPr>
              <p14:xfrm>
                <a:off x="8653819" y="5078079"/>
                <a:ext cx="360" cy="33840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C16DF817-283F-D308-02AE-57FD3AAB539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90819" y="4700439"/>
                  <a:ext cx="126000" cy="10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E0CD05DA-C7F6-ECAC-8785-664F432145E1}"/>
                    </a:ext>
                  </a:extLst>
                </p14:cNvPr>
                <p14:cNvContentPartPr/>
                <p14:nvPr/>
              </p14:nvContentPartPr>
              <p14:xfrm>
                <a:off x="3473419" y="5136759"/>
                <a:ext cx="360" cy="374400"/>
              </p14:xfrm>
            </p:contentPart>
          </mc:Choice>
          <mc:Fallback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E0CD05DA-C7F6-ECAC-8785-664F432145E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10779" y="4758759"/>
                  <a:ext cx="126000" cy="11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D7044CA6-182A-C19A-34E7-D9484BB5E358}"/>
                    </a:ext>
                  </a:extLst>
                </p14:cNvPr>
                <p14:cNvContentPartPr/>
                <p14:nvPr/>
              </p14:nvContentPartPr>
              <p14:xfrm>
                <a:off x="3486739" y="4981239"/>
                <a:ext cx="5200200" cy="80280"/>
              </p14:xfrm>
            </p:contentPart>
          </mc:Choice>
          <mc:Fallback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D7044CA6-182A-C19A-34E7-D9484BB5E3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24099" y="4603239"/>
                  <a:ext cx="5325840" cy="83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1369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BBDDA4DF-BAFF-5EC6-05E4-12AECA9CF052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" sz="3600" b="1" dirty="0">
                <a:solidFill>
                  <a:schemeClr val="bg1"/>
                </a:solidFill>
                <a:latin typeface="+mj-lt"/>
                <a:ea typeface="+mj-ea"/>
                <a:cs typeface="Amatic SC" panose="00000500000000000000" pitchFamily="2" charset="-79"/>
              </a:rPr>
              <a:t>Screencast</a:t>
            </a:r>
            <a:endParaRPr lang="ru-RU" sz="3600" b="1" dirty="0">
              <a:solidFill>
                <a:schemeClr val="bg1"/>
              </a:solidFill>
              <a:latin typeface="+mj-lt"/>
              <a:ea typeface="+mj-ea"/>
              <a:cs typeface="Amatic SC" panose="00000500000000000000" pitchFamily="2" charset="-79"/>
            </a:endParaRPr>
          </a:p>
        </p:txBody>
      </p:sp>
      <p:grpSp>
        <p:nvGrpSpPr>
          <p:cNvPr id="2" name="Group 82">
            <a:extLst>
              <a:ext uri="{FF2B5EF4-FFF2-40B4-BE49-F238E27FC236}">
                <a16:creationId xmlns:a16="http://schemas.microsoft.com/office/drawing/2014/main" id="{F3D7A05D-AC6F-ED70-32A5-C9BD0D3308F8}"/>
              </a:ext>
            </a:extLst>
          </p:cNvPr>
          <p:cNvGrpSpPr>
            <a:grpSpLocks noChangeAspect="1"/>
          </p:cNvGrpSpPr>
          <p:nvPr/>
        </p:nvGrpSpPr>
        <p:grpSpPr>
          <a:xfrm>
            <a:off x="1968163" y="1072942"/>
            <a:ext cx="8255674" cy="5460496"/>
            <a:chOff x="1027152" y="2693983"/>
            <a:chExt cx="6796849" cy="4462905"/>
          </a:xfrm>
        </p:grpSpPr>
        <p:grpSp>
          <p:nvGrpSpPr>
            <p:cNvPr id="3" name="Group 83">
              <a:extLst>
                <a:ext uri="{FF2B5EF4-FFF2-40B4-BE49-F238E27FC236}">
                  <a16:creationId xmlns:a16="http://schemas.microsoft.com/office/drawing/2014/main" id="{77999F0B-07EA-E752-B095-474C7A010808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6" name="AutoShape 1">
                <a:extLst>
                  <a:ext uri="{FF2B5EF4-FFF2-40B4-BE49-F238E27FC236}">
                    <a16:creationId xmlns:a16="http://schemas.microsoft.com/office/drawing/2014/main" id="{4D7BB024-F134-0699-88C1-1E975D69CF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7" name="Rectangle 2">
                <a:extLst>
                  <a:ext uri="{FF2B5EF4-FFF2-40B4-BE49-F238E27FC236}">
                    <a16:creationId xmlns:a16="http://schemas.microsoft.com/office/drawing/2014/main" id="{55F1F52C-4123-639B-24E0-C3CED8321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8" name="AutoShape 3">
                <a:extLst>
                  <a:ext uri="{FF2B5EF4-FFF2-40B4-BE49-F238E27FC236}">
                    <a16:creationId xmlns:a16="http://schemas.microsoft.com/office/drawing/2014/main" id="{600170A0-389E-F607-58B8-BA2B38026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9" name="Oval 4">
                <a:extLst>
                  <a:ext uri="{FF2B5EF4-FFF2-40B4-BE49-F238E27FC236}">
                    <a16:creationId xmlns:a16="http://schemas.microsoft.com/office/drawing/2014/main" id="{1E99F48C-427E-5693-D454-DA97596E7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1" name="Oval 5">
                <a:extLst>
                  <a:ext uri="{FF2B5EF4-FFF2-40B4-BE49-F238E27FC236}">
                    <a16:creationId xmlns:a16="http://schemas.microsoft.com/office/drawing/2014/main" id="{41774014-5FC7-FAFA-3C85-1FF553C0C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2" name="Oval 6">
                <a:extLst>
                  <a:ext uri="{FF2B5EF4-FFF2-40B4-BE49-F238E27FC236}">
                    <a16:creationId xmlns:a16="http://schemas.microsoft.com/office/drawing/2014/main" id="{B2A3E274-CC11-8016-1CF2-7372AF1C4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92">
                <a:extLst>
                  <a:ext uri="{FF2B5EF4-FFF2-40B4-BE49-F238E27FC236}">
                    <a16:creationId xmlns:a16="http://schemas.microsoft.com/office/drawing/2014/main" id="{22C6E007-63E8-498C-1960-FFA90F9FB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4" name="Group 93">
                <a:extLst>
                  <a:ext uri="{FF2B5EF4-FFF2-40B4-BE49-F238E27FC236}">
                    <a16:creationId xmlns:a16="http://schemas.microsoft.com/office/drawing/2014/main" id="{40159949-20D7-A80A-C121-D8EB231E0D8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17" name="Freeform 13">
                  <a:extLst>
                    <a:ext uri="{FF2B5EF4-FFF2-40B4-BE49-F238E27FC236}">
                      <a16:creationId xmlns:a16="http://schemas.microsoft.com/office/drawing/2014/main" id="{EB90AA92-074E-29D6-E8FB-D715BA3D9B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18" name="Freeform 14">
                  <a:extLst>
                    <a:ext uri="{FF2B5EF4-FFF2-40B4-BE49-F238E27FC236}">
                      <a16:creationId xmlns:a16="http://schemas.microsoft.com/office/drawing/2014/main" id="{F9C95391-B8BE-EDC3-82BA-92165FF814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19" name="Freeform 15">
                  <a:extLst>
                    <a:ext uri="{FF2B5EF4-FFF2-40B4-BE49-F238E27FC236}">
                      <a16:creationId xmlns:a16="http://schemas.microsoft.com/office/drawing/2014/main" id="{78851F09-311E-555C-FB60-3AB941255F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0" name="Freeform 16">
                  <a:extLst>
                    <a:ext uri="{FF2B5EF4-FFF2-40B4-BE49-F238E27FC236}">
                      <a16:creationId xmlns:a16="http://schemas.microsoft.com/office/drawing/2014/main" id="{B91D30A4-90E3-7AC6-2899-5FF2EBFC9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1" name="Freeform 17">
                  <a:extLst>
                    <a:ext uri="{FF2B5EF4-FFF2-40B4-BE49-F238E27FC236}">
                      <a16:creationId xmlns:a16="http://schemas.microsoft.com/office/drawing/2014/main" id="{92F76FF9-C82C-7629-4FD7-89AEF0ED74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2" name="Freeform 18">
                  <a:extLst>
                    <a:ext uri="{FF2B5EF4-FFF2-40B4-BE49-F238E27FC236}">
                      <a16:creationId xmlns:a16="http://schemas.microsoft.com/office/drawing/2014/main" id="{92C7DC52-8B2D-E410-8B5D-D3D3C6EFB1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9">
                  <a:extLst>
                    <a:ext uri="{FF2B5EF4-FFF2-40B4-BE49-F238E27FC236}">
                      <a16:creationId xmlns:a16="http://schemas.microsoft.com/office/drawing/2014/main" id="{DB71A645-4FC4-DDC5-DA71-3F1850B7B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20">
                  <a:extLst>
                    <a:ext uri="{FF2B5EF4-FFF2-40B4-BE49-F238E27FC236}">
                      <a16:creationId xmlns:a16="http://schemas.microsoft.com/office/drawing/2014/main" id="{FAC060CF-ACAB-2230-EFB2-AF49D6194D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21">
                  <a:extLst>
                    <a:ext uri="{FF2B5EF4-FFF2-40B4-BE49-F238E27FC236}">
                      <a16:creationId xmlns:a16="http://schemas.microsoft.com/office/drawing/2014/main" id="{F294C682-0F23-DBFB-2BC3-A7DA8B6791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15" name="Freeform 25">
                <a:extLst>
                  <a:ext uri="{FF2B5EF4-FFF2-40B4-BE49-F238E27FC236}">
                    <a16:creationId xmlns:a16="http://schemas.microsoft.com/office/drawing/2014/main" id="{F6B9ACEA-2019-B580-9047-C622E5D5F12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6">
                <a:extLst>
                  <a:ext uri="{FF2B5EF4-FFF2-40B4-BE49-F238E27FC236}">
                    <a16:creationId xmlns:a16="http://schemas.microsoft.com/office/drawing/2014/main" id="{4D038B61-7DF0-3F3D-34A4-BC354C975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CA71C3-90B6-D69E-0652-9AC0D48EC9FD}"/>
                </a:ext>
              </a:extLst>
            </p:cNvPr>
            <p:cNvSpPr txBox="1"/>
            <p:nvPr/>
          </p:nvSpPr>
          <p:spPr>
            <a:xfrm>
              <a:off x="2391108" y="2996115"/>
              <a:ext cx="152088" cy="2012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id-ID" sz="1000" dirty="0">
                <a:solidFill>
                  <a:schemeClr val="tx1"/>
                </a:solidFill>
                <a:latin typeface="Poppins Light" charset="0"/>
                <a:ea typeface="Poppins Light" charset="0"/>
                <a:cs typeface="Poppins Light" charset="0"/>
              </a:endParaRPr>
            </a:p>
          </p:txBody>
        </p:sp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8EFA29D1-FE16-E173-7021-515093209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42A121E-CC34-ECA3-7159-EB8ADAF3041C}"/>
              </a:ext>
            </a:extLst>
          </p:cNvPr>
          <p:cNvSpPr txBox="1"/>
          <p:nvPr/>
        </p:nvSpPr>
        <p:spPr>
          <a:xfrm>
            <a:off x="3670988" y="153790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100" dirty="0">
                <a:solidFill>
                  <a:srgbClr val="1F6BC0"/>
                </a:solidFill>
                <a:effectLst/>
                <a:latin typeface="Helvetica Neue" panose="02000503000000020004" pitchFamily="2" charset="0"/>
              </a:rPr>
              <a:t>https://idea-</a:t>
            </a:r>
            <a:r>
              <a:rPr lang="en" sz="1100" dirty="0" err="1">
                <a:solidFill>
                  <a:srgbClr val="1F6BC0"/>
                </a:solidFill>
                <a:effectLst/>
                <a:latin typeface="Helvetica Neue" panose="02000503000000020004" pitchFamily="2" charset="0"/>
              </a:rPr>
              <a:t>radar.tech</a:t>
            </a:r>
            <a:endParaRPr lang="en" sz="1100" dirty="0">
              <a:solidFill>
                <a:srgbClr val="1F6BC0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4F4779C-2CBA-C06A-ED63-64C0326F52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559" t="51499" r="9132" b="-3075"/>
          <a:stretch/>
        </p:blipFill>
        <p:spPr>
          <a:xfrm>
            <a:off x="8387367" y="5823491"/>
            <a:ext cx="3804633" cy="110013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6C6075F-130A-FFE3-63B3-CA57FB238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184" b="90714" l="10000" r="90000">
                        <a14:foregroundMark x1="40612" y1="9184" x2="40918" y2="11224"/>
                        <a14:foregroundMark x1="58673" y1="90408" x2="47347" y2="90714"/>
                        <a14:foregroundMark x1="48571" y1="9184" x2="49388" y2="959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371810" y="4429220"/>
            <a:ext cx="2590800" cy="2590800"/>
          </a:xfrm>
          <a:prstGeom prst="rect">
            <a:avLst/>
          </a:prstGeom>
        </p:spPr>
      </p:pic>
      <p:sp>
        <p:nvSpPr>
          <p:cNvPr id="30" name="Номер слайда 17">
            <a:extLst>
              <a:ext uri="{FF2B5EF4-FFF2-40B4-BE49-F238E27FC236}">
                <a16:creationId xmlns:a16="http://schemas.microsoft.com/office/drawing/2014/main" id="{A9B48FC3-398B-EFFF-981B-B3952B65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26" name="Screencast-JaJaBinx">
            <a:hlinkClick r:id="" action="ppaction://media"/>
            <a:extLst>
              <a:ext uri="{FF2B5EF4-FFF2-40B4-BE49-F238E27FC236}">
                <a16:creationId xmlns:a16="http://schemas.microsoft.com/office/drawing/2014/main" id="{94F57FD9-29C8-08D9-FF54-28E15D34F1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064454" y="1919421"/>
            <a:ext cx="8060435" cy="39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0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67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596457" y="1518897"/>
            <a:ext cx="2645151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3963367" y="4288783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 Scientist 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vkedaxxx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+79850902685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Аспирант МГУ / </a:t>
            </a:r>
            <a:r>
              <a:rPr lang="ru-RU" sz="1200" dirty="0" err="1">
                <a:solidFill>
                  <a:schemeClr val="tx1"/>
                </a:solidFill>
              </a:rPr>
              <a:t>Сбер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053361" y="3604565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Иван Родионов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698512" y="1501344"/>
            <a:ext cx="2645151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073909" y="4288783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Product Manager  UX/UI 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tx1"/>
                </a:solidFill>
              </a:rPr>
              <a:t>crinjulia 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+79536166445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НейроЗнание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Кандидат наук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159803" y="3604565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Юлия </a:t>
            </a:r>
          </a:p>
          <a:p>
            <a:pPr marL="0" indent="0" algn="ctr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Ивлева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582143" y="1518897"/>
            <a:ext cx="2645151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0BB76F0-D97D-280F-B9CB-53E829678A5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" t="4066" r="-41" b="36234"/>
          <a:stretch/>
        </p:blipFill>
        <p:spPr>
          <a:xfrm>
            <a:off x="7027293" y="1671630"/>
            <a:ext cx="1987587" cy="1780586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43" y="393535"/>
            <a:ext cx="3354394" cy="469927"/>
          </a:xfrm>
        </p:spPr>
        <p:txBody>
          <a:bodyPr/>
          <a:lstStyle/>
          <a:p>
            <a:pPr algn="ctr"/>
            <a:r>
              <a:rPr lang="ru-RU" sz="2500" b="1" i="0" u="none" strike="noStrike" cap="none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JaJaBinx</a:t>
            </a:r>
            <a:endParaRPr lang="ru-RU" sz="25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5412" y="4288783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200" dirty="0">
                <a:solidFill>
                  <a:schemeClr val="tx1"/>
                </a:solidFill>
              </a:rPr>
              <a:t>@cringenius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+79175092282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Аспирант МГУ / Ингосстрах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1043435" y="3660873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Арсений</a:t>
            </a:r>
          </a:p>
          <a:p>
            <a:pPr marL="0" indent="0" algn="ctr">
              <a:buNone/>
            </a:pPr>
            <a:r>
              <a:rPr lang="ru-RU" sz="1600" b="1" dirty="0" err="1">
                <a:solidFill>
                  <a:schemeClr val="accent5"/>
                </a:solidFill>
              </a:rPr>
              <a:t>Мокин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958C21C-F46F-E83B-B52D-29A8436029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2" t="3831" r="28532" b="32292"/>
          <a:stretch/>
        </p:blipFill>
        <p:spPr>
          <a:xfrm>
            <a:off x="3805057" y="1648414"/>
            <a:ext cx="2227949" cy="18038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AC68C2F-A0A2-6640-C852-E5E8EE71EDC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8" t="8455" r="31901" b="62456"/>
          <a:stretch/>
        </p:blipFill>
        <p:spPr>
          <a:xfrm>
            <a:off x="865412" y="1648414"/>
            <a:ext cx="2078612" cy="190586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61FF51D-8562-F2DA-E210-B2B2A6AA0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23338" y="3374924"/>
            <a:ext cx="2079310" cy="20793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1D876B9-E820-CAE0-EFAE-97FB7F9100D4}"/>
              </a:ext>
            </a:extLst>
          </p:cNvPr>
          <p:cNvSpPr txBox="1"/>
          <p:nvPr/>
        </p:nvSpPr>
        <p:spPr>
          <a:xfrm>
            <a:off x="9592611" y="5590230"/>
            <a:ext cx="2340764" cy="323165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" sz="1500" b="1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https://idea-</a:t>
            </a:r>
            <a:r>
              <a:rPr lang="en" sz="1500" b="1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radar.tech</a:t>
            </a:r>
            <a:endParaRPr lang="en" sz="1500" b="1" dirty="0">
              <a:solidFill>
                <a:schemeClr val="bg1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3A9FB611-1C41-1B4B-F833-AC24BC3297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200" y="815356"/>
            <a:ext cx="1768657" cy="265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11663</TotalTime>
  <Words>631</Words>
  <Application>Microsoft Macintosh PowerPoint</Application>
  <PresentationFormat>Широкоэкранный</PresentationFormat>
  <Paragraphs>99</Paragraphs>
  <Slides>14</Slides>
  <Notes>10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2" baseType="lpstr">
      <vt:lpstr>Arial</vt:lpstr>
      <vt:lpstr>Calibri</vt:lpstr>
      <vt:lpstr>Helvetica Neue</vt:lpstr>
      <vt:lpstr>Lato Light</vt:lpstr>
      <vt:lpstr>Montserrat</vt:lpstr>
      <vt:lpstr>Poppins Light</vt:lpstr>
      <vt:lpstr>Wingdings</vt:lpstr>
      <vt:lpstr>Для Академия инноваторов 16_9</vt:lpstr>
      <vt:lpstr>JaJaBinx</vt:lpstr>
      <vt:lpstr>«JaJaBinx»</vt:lpstr>
      <vt:lpstr>JaJaBinx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СТЭК</vt:lpstr>
      <vt:lpstr>Презентация PowerPoint</vt:lpstr>
      <vt:lpstr>JaJaBinx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114</cp:revision>
  <dcterms:created xsi:type="dcterms:W3CDTF">2023-05-15T07:36:23Z</dcterms:created>
  <dcterms:modified xsi:type="dcterms:W3CDTF">2026-10-20T20:45:59Z</dcterms:modified>
</cp:coreProperties>
</file>